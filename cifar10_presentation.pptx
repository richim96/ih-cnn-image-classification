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370012" y="577453"/>
            <a:ext cx="7315201" cy="125134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5103812" y="1828800"/>
            <a:ext cx="3581401" cy="33147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294578" y="4643111"/>
            <a:ext cx="258623" cy="248303"/>
          </a:xfrm>
          <a:prstGeom prst="rect">
            <a:avLst/>
          </a:prstGeom>
          <a:ln w="12700">
            <a:miter lim="400000"/>
          </a:ln>
        </p:spPr>
        <p:txBody>
          <a:bodyPr wrap="none" lIns="45718" tIns="45718" rIns="45718" bIns="45718" anchor="ctr">
            <a:spAutoFit/>
          </a:bodyPr>
          <a:lstStyle>
            <a:lvl1pPr algn="r">
              <a:defRPr sz="1200">
                <a:latin typeface="+mj-lt"/>
                <a:ea typeface="+mj-ea"/>
                <a:cs typeface="+mj-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image" Target="../media/image30.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2B3C"/>
        </a:solidFill>
      </p:bgPr>
    </p:bg>
    <p:spTree>
      <p:nvGrpSpPr>
        <p:cNvPr id="1" name=""/>
        <p:cNvGrpSpPr/>
        <p:nvPr/>
      </p:nvGrpSpPr>
      <p:grpSpPr>
        <a:xfrm>
          <a:off x="0" y="0"/>
          <a:ext cx="0" cy="0"/>
          <a:chOff x="0" y="0"/>
          <a:chExt cx="0" cy="0"/>
        </a:xfrm>
      </p:grpSpPr>
      <p:sp>
        <p:nvSpPr>
          <p:cNvPr id="20" name="Shape 0"/>
          <p:cNvSpPr/>
          <p:nvPr/>
        </p:nvSpPr>
        <p:spPr>
          <a:xfrm>
            <a:off x="-2743200" y="2743200"/>
            <a:ext cx="14630400" cy="4114800"/>
          </a:xfrm>
          <a:prstGeom prst="ellipse">
            <a:avLst/>
          </a:prstGeom>
          <a:solidFill>
            <a:srgbClr val="1A6373">
              <a:alpha val="50000"/>
            </a:srgbClr>
          </a:solidFill>
          <a:ln w="12700">
            <a:miter lim="400000"/>
          </a:ln>
        </p:spPr>
        <p:txBody>
          <a:bodyPr lIns="45718" tIns="45718" rIns="45718" bIns="45718"/>
          <a:lstStyle/>
          <a:p>
            <a:pPr>
              <a:defRPr>
                <a:latin typeface="+mj-lt"/>
                <a:ea typeface="+mj-ea"/>
                <a:cs typeface="+mj-cs"/>
                <a:sym typeface="Calibri"/>
              </a:defRPr>
            </a:pPr>
          </a:p>
        </p:txBody>
      </p:sp>
      <p:sp>
        <p:nvSpPr>
          <p:cNvPr id="21" name="Shape 1"/>
          <p:cNvSpPr/>
          <p:nvPr/>
        </p:nvSpPr>
        <p:spPr>
          <a:xfrm>
            <a:off x="-2286000" y="3200400"/>
            <a:ext cx="13716000" cy="3657600"/>
          </a:xfrm>
          <a:prstGeom prst="ellipse">
            <a:avLst/>
          </a:prstGeom>
          <a:solidFill>
            <a:srgbClr val="2CA6B5">
              <a:alpha val="40000"/>
            </a:srgbClr>
          </a:solidFill>
          <a:ln w="12700">
            <a:miter lim="400000"/>
          </a:ln>
        </p:spPr>
        <p:txBody>
          <a:bodyPr lIns="45718" tIns="45718" rIns="45718" bIns="45718"/>
          <a:lstStyle/>
          <a:p>
            <a:pPr>
              <a:defRPr>
                <a:latin typeface="+mj-lt"/>
                <a:ea typeface="+mj-ea"/>
                <a:cs typeface="+mj-cs"/>
                <a:sym typeface="Calibri"/>
              </a:defRPr>
            </a:pPr>
          </a:p>
        </p:txBody>
      </p:sp>
      <p:sp>
        <p:nvSpPr>
          <p:cNvPr id="22" name="Shape 2"/>
          <p:cNvSpPr/>
          <p:nvPr/>
        </p:nvSpPr>
        <p:spPr>
          <a:xfrm>
            <a:off x="-1828800" y="3657600"/>
            <a:ext cx="12801600" cy="3200400"/>
          </a:xfrm>
          <a:prstGeom prst="ellipse">
            <a:avLst/>
          </a:prstGeom>
          <a:solidFill>
            <a:srgbClr val="5CC8D4">
              <a:alpha val="30000"/>
            </a:srgbClr>
          </a:solidFill>
          <a:ln w="12700">
            <a:miter lim="400000"/>
          </a:ln>
        </p:spPr>
        <p:txBody>
          <a:bodyPr lIns="45718" tIns="45718" rIns="45718" bIns="45718"/>
          <a:lstStyle/>
          <a:p>
            <a:pPr>
              <a:defRPr>
                <a:latin typeface="+mj-lt"/>
                <a:ea typeface="+mj-ea"/>
                <a:cs typeface="+mj-cs"/>
                <a:sym typeface="Calibri"/>
              </a:defRPr>
            </a:pPr>
          </a:p>
        </p:txBody>
      </p:sp>
      <p:sp>
        <p:nvSpPr>
          <p:cNvPr id="23" name="Shape 3"/>
          <p:cNvSpPr/>
          <p:nvPr/>
        </p:nvSpPr>
        <p:spPr>
          <a:xfrm>
            <a:off x="-914400" y="4572000"/>
            <a:ext cx="10972800" cy="2286000"/>
          </a:xfrm>
          <a:prstGeom prst="ellipse">
            <a:avLst/>
          </a:prstGeom>
          <a:solidFill>
            <a:srgbClr val="E8CFA0">
              <a:alpha val="25000"/>
            </a:srgbClr>
          </a:solidFill>
          <a:ln w="12700">
            <a:miter lim="400000"/>
          </a:ln>
        </p:spPr>
        <p:txBody>
          <a:bodyPr lIns="45718" tIns="45718" rIns="45718" bIns="45718"/>
          <a:lstStyle/>
          <a:p>
            <a:pPr>
              <a:defRPr>
                <a:latin typeface="+mj-lt"/>
                <a:ea typeface="+mj-ea"/>
                <a:cs typeface="+mj-cs"/>
                <a:sym typeface="Calibri"/>
              </a:defRPr>
            </a:pPr>
          </a:p>
        </p:txBody>
      </p:sp>
      <p:pic>
        <p:nvPicPr>
          <p:cNvPr id="24" name="Image 0" descr="Image 0"/>
          <p:cNvPicPr>
            <a:picLocks noChangeAspect="1"/>
          </p:cNvPicPr>
          <p:nvPr/>
        </p:nvPicPr>
        <p:blipFill>
          <a:blip r:embed="rId2">
            <a:extLst/>
          </a:blip>
          <a:stretch>
            <a:fillRect/>
          </a:stretch>
        </p:blipFill>
        <p:spPr>
          <a:xfrm>
            <a:off x="4160520" y="502919"/>
            <a:ext cx="822962" cy="822962"/>
          </a:xfrm>
          <a:prstGeom prst="rect">
            <a:avLst/>
          </a:prstGeom>
          <a:ln w="12700">
            <a:miter lim="400000"/>
          </a:ln>
        </p:spPr>
      </p:pic>
      <p:sp>
        <p:nvSpPr>
          <p:cNvPr id="25" name="Text 4"/>
          <p:cNvSpPr txBox="1"/>
          <p:nvPr/>
        </p:nvSpPr>
        <p:spPr>
          <a:xfrm>
            <a:off x="731520" y="1568450"/>
            <a:ext cx="7680960" cy="520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600">
                <a:solidFill>
                  <a:srgbClr val="FFFFFF"/>
                </a:solidFill>
                <a:latin typeface="Georgia"/>
                <a:ea typeface="Georgia"/>
                <a:cs typeface="Georgia"/>
                <a:sym typeface="Georgia"/>
              </a:defRPr>
            </a:lvl1pPr>
          </a:lstStyle>
          <a:p>
            <a:pPr/>
            <a:r>
              <a:t>CIFAR-10 Image Classification</a:t>
            </a:r>
          </a:p>
        </p:txBody>
      </p:sp>
      <p:sp>
        <p:nvSpPr>
          <p:cNvPr id="26" name="Text 5"/>
          <p:cNvSpPr txBox="1"/>
          <p:nvPr/>
        </p:nvSpPr>
        <p:spPr>
          <a:xfrm>
            <a:off x="731520" y="2310349"/>
            <a:ext cx="7680960" cy="27134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00" sz="2100">
                <a:solidFill>
                  <a:srgbClr val="5CC8D4"/>
                </a:solidFill>
                <a:latin typeface="+mj-lt"/>
                <a:ea typeface="+mj-ea"/>
                <a:cs typeface="+mj-cs"/>
                <a:sym typeface="Calibri"/>
              </a:defRPr>
            </a:lvl1pPr>
          </a:lstStyle>
          <a:p>
            <a:pPr/>
            <a:r>
              <a:t>CNN &amp; Transfer Learning</a:t>
            </a:r>
          </a:p>
        </p:txBody>
      </p:sp>
      <p:sp>
        <p:nvSpPr>
          <p:cNvPr id="27" name="Text 6"/>
          <p:cNvSpPr txBox="1"/>
          <p:nvPr/>
        </p:nvSpPr>
        <p:spPr>
          <a:xfrm>
            <a:off x="1417319" y="2921824"/>
            <a:ext cx="6309362" cy="51143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algn="ctr">
              <a:lnSpc>
                <a:spcPct val="130000"/>
              </a:lnSpc>
              <a:defRPr sz="1300">
                <a:solidFill>
                  <a:srgbClr val="F7EDD8"/>
                </a:solidFill>
                <a:latin typeface="+mj-lt"/>
                <a:ea typeface="+mj-ea"/>
                <a:cs typeface="+mj-cs"/>
                <a:sym typeface="Calibri"/>
              </a:defRPr>
            </a:pPr>
            <a:r>
              <a:t>Comparing a custom CNN against MobileNetV2 and ResNet50</a:t>
            </a:r>
          </a:p>
          <a:p>
            <a:pPr algn="ctr">
              <a:lnSpc>
                <a:spcPct val="130000"/>
              </a:lnSpc>
              <a:defRPr sz="1300">
                <a:solidFill>
                  <a:srgbClr val="F7EDD8"/>
                </a:solidFill>
                <a:latin typeface="+mj-lt"/>
                <a:ea typeface="+mj-ea"/>
                <a:cs typeface="+mj-cs"/>
                <a:sym typeface="Calibri"/>
              </a:defRPr>
            </a:pPr>
            <a:r>
              <a:t>on the CIFAR-10 benchmark dataset</a:t>
            </a:r>
          </a:p>
        </p:txBody>
      </p:sp>
      <p:sp>
        <p:nvSpPr>
          <p:cNvPr id="28" name="Shape 7"/>
          <p:cNvSpPr/>
          <p:nvPr/>
        </p:nvSpPr>
        <p:spPr>
          <a:xfrm>
            <a:off x="3291840" y="3749040"/>
            <a:ext cx="2560322" cy="22862"/>
          </a:xfrm>
          <a:prstGeom prst="rect">
            <a:avLst/>
          </a:prstGeom>
          <a:solidFill>
            <a:srgbClr val="E8CFA0">
              <a:alpha val="50000"/>
            </a:srgbClr>
          </a:solidFill>
          <a:ln w="12700">
            <a:miter lim="400000"/>
          </a:ln>
        </p:spPr>
        <p:txBody>
          <a:bodyPr lIns="45718" tIns="45718" rIns="45718" bIns="45718"/>
          <a:lstStyle/>
          <a:p>
            <a:pPr>
              <a:defRPr>
                <a:latin typeface="+mj-lt"/>
                <a:ea typeface="+mj-ea"/>
                <a:cs typeface="+mj-cs"/>
                <a:sym typeface="Calibri"/>
              </a:defRPr>
            </a:pPr>
          </a:p>
        </p:txBody>
      </p:sp>
      <p:sp>
        <p:nvSpPr>
          <p:cNvPr id="29" name="Text 8"/>
          <p:cNvSpPr txBox="1"/>
          <p:nvPr/>
        </p:nvSpPr>
        <p:spPr>
          <a:xfrm>
            <a:off x="1417319" y="3977684"/>
            <a:ext cx="6309362" cy="2285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1000">
                <a:solidFill>
                  <a:srgbClr val="7A9DAD"/>
                </a:solidFill>
                <a:latin typeface="+mj-lt"/>
                <a:ea typeface="+mj-ea"/>
                <a:cs typeface="+mj-cs"/>
                <a:sym typeface="Calibri"/>
              </a:defRPr>
            </a:lvl1pPr>
          </a:lstStyle>
          <a:p>
            <a:pPr/>
            <a:r>
              <a:t>Deep Learning  •  Python  •  TensorFlow / Keras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4E8"/>
        </a:solidFill>
      </p:bgPr>
    </p:bg>
    <p:spTree>
      <p:nvGrpSpPr>
        <p:cNvPr id="1" name=""/>
        <p:cNvGrpSpPr/>
        <p:nvPr/>
      </p:nvGrpSpPr>
      <p:grpSpPr>
        <a:xfrm>
          <a:off x="0" y="0"/>
          <a:ext cx="0" cy="0"/>
          <a:chOff x="0" y="0"/>
          <a:chExt cx="0" cy="0"/>
        </a:xfrm>
      </p:grpSpPr>
      <p:sp>
        <p:nvSpPr>
          <p:cNvPr id="31"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32" name="Shape 1"/>
          <p:cNvSpPr/>
          <p:nvPr/>
        </p:nvSpPr>
        <p:spPr>
          <a:xfrm>
            <a:off x="-1828800" y="4663440"/>
            <a:ext cx="12801600" cy="2011683"/>
          </a:xfrm>
          <a:prstGeom prst="ellipse">
            <a:avLst/>
          </a:prstGeom>
          <a:solidFill>
            <a:srgbClr val="A8E4E0">
              <a:alpha val="90000"/>
            </a:srgbClr>
          </a:solidFill>
          <a:ln w="12700">
            <a:miter lim="400000"/>
          </a:ln>
        </p:spPr>
        <p:txBody>
          <a:bodyPr lIns="45718" tIns="45718" rIns="45718" bIns="45718"/>
          <a:lstStyle/>
          <a:p>
            <a:pPr>
              <a:defRPr>
                <a:latin typeface="+mj-lt"/>
                <a:ea typeface="+mj-ea"/>
                <a:cs typeface="+mj-cs"/>
                <a:sym typeface="Calibri"/>
              </a:defRPr>
            </a:pPr>
          </a:p>
        </p:txBody>
      </p:sp>
      <p:sp>
        <p:nvSpPr>
          <p:cNvPr id="33" name="Text 2"/>
          <p:cNvSpPr txBox="1"/>
          <p:nvPr/>
        </p:nvSpPr>
        <p:spPr>
          <a:xfrm>
            <a:off x="640079" y="342899"/>
            <a:ext cx="4572003"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200">
                <a:solidFill>
                  <a:srgbClr val="152A36"/>
                </a:solidFill>
                <a:latin typeface="Georgia"/>
                <a:ea typeface="Georgia"/>
                <a:cs typeface="Georgia"/>
                <a:sym typeface="Georgia"/>
              </a:defRPr>
            </a:lvl1pPr>
          </a:lstStyle>
          <a:p>
            <a:pPr/>
            <a:r>
              <a:t>Overview</a:t>
            </a:r>
          </a:p>
        </p:txBody>
      </p:sp>
      <p:pic>
        <p:nvPicPr>
          <p:cNvPr id="34" name="Image 0" descr="Image 0"/>
          <p:cNvPicPr>
            <a:picLocks noChangeAspect="1"/>
          </p:cNvPicPr>
          <p:nvPr/>
        </p:nvPicPr>
        <p:blipFill>
          <a:blip r:embed="rId2">
            <a:extLst/>
          </a:blip>
          <a:stretch>
            <a:fillRect/>
          </a:stretch>
        </p:blipFill>
        <p:spPr>
          <a:xfrm>
            <a:off x="822960" y="1188719"/>
            <a:ext cx="329186" cy="329186"/>
          </a:xfrm>
          <a:prstGeom prst="rect">
            <a:avLst/>
          </a:prstGeom>
          <a:ln w="12700">
            <a:miter lim="400000"/>
          </a:ln>
        </p:spPr>
      </p:pic>
      <p:sp>
        <p:nvSpPr>
          <p:cNvPr id="35" name="Text 4"/>
          <p:cNvSpPr txBox="1"/>
          <p:nvPr/>
        </p:nvSpPr>
        <p:spPr>
          <a:xfrm>
            <a:off x="1371600" y="1258631"/>
            <a:ext cx="2743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52A36"/>
                </a:solidFill>
                <a:latin typeface="+mj-lt"/>
                <a:ea typeface="+mj-ea"/>
                <a:cs typeface="+mj-cs"/>
                <a:sym typeface="Calibri"/>
              </a:defRPr>
            </a:lvl1pPr>
          </a:lstStyle>
          <a:p>
            <a:pPr/>
            <a:r>
              <a:t>Dataset &amp; EDA</a:t>
            </a:r>
          </a:p>
        </p:txBody>
      </p:sp>
      <p:sp>
        <p:nvSpPr>
          <p:cNvPr id="36" name="Text 5"/>
          <p:cNvSpPr txBox="1"/>
          <p:nvPr/>
        </p:nvSpPr>
        <p:spPr>
          <a:xfrm>
            <a:off x="3931920" y="1274878"/>
            <a:ext cx="43891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CIFAR-10: 60K images across 10 classes</a:t>
            </a:r>
          </a:p>
        </p:txBody>
      </p:sp>
      <p:pic>
        <p:nvPicPr>
          <p:cNvPr id="37" name="Image 1" descr="Image 1"/>
          <p:cNvPicPr>
            <a:picLocks noChangeAspect="1"/>
          </p:cNvPicPr>
          <p:nvPr/>
        </p:nvPicPr>
        <p:blipFill>
          <a:blip r:embed="rId3">
            <a:extLst/>
          </a:blip>
          <a:stretch>
            <a:fillRect/>
          </a:stretch>
        </p:blipFill>
        <p:spPr>
          <a:xfrm>
            <a:off x="822960" y="1792222"/>
            <a:ext cx="329186" cy="329186"/>
          </a:xfrm>
          <a:prstGeom prst="rect">
            <a:avLst/>
          </a:prstGeom>
          <a:ln w="12700">
            <a:miter lim="400000"/>
          </a:ln>
        </p:spPr>
      </p:pic>
      <p:sp>
        <p:nvSpPr>
          <p:cNvPr id="38" name="Text 7"/>
          <p:cNvSpPr txBox="1"/>
          <p:nvPr/>
        </p:nvSpPr>
        <p:spPr>
          <a:xfrm>
            <a:off x="1371600" y="1862136"/>
            <a:ext cx="2743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52A36"/>
                </a:solidFill>
                <a:latin typeface="+mj-lt"/>
                <a:ea typeface="+mj-ea"/>
                <a:cs typeface="+mj-cs"/>
                <a:sym typeface="Calibri"/>
              </a:defRPr>
            </a:lvl1pPr>
          </a:lstStyle>
          <a:p>
            <a:pPr/>
            <a:r>
              <a:t>Preprocessing</a:t>
            </a:r>
          </a:p>
        </p:txBody>
      </p:sp>
      <p:sp>
        <p:nvSpPr>
          <p:cNvPr id="39" name="Text 8"/>
          <p:cNvSpPr txBox="1"/>
          <p:nvPr/>
        </p:nvSpPr>
        <p:spPr>
          <a:xfrm>
            <a:off x="3931920" y="1878383"/>
            <a:ext cx="438912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Normalization and data preparation</a:t>
            </a:r>
          </a:p>
        </p:txBody>
      </p:sp>
      <p:pic>
        <p:nvPicPr>
          <p:cNvPr id="40" name="Image 2" descr="Image 2"/>
          <p:cNvPicPr>
            <a:picLocks noChangeAspect="1"/>
          </p:cNvPicPr>
          <p:nvPr/>
        </p:nvPicPr>
        <p:blipFill>
          <a:blip r:embed="rId4">
            <a:extLst/>
          </a:blip>
          <a:stretch>
            <a:fillRect/>
          </a:stretch>
        </p:blipFill>
        <p:spPr>
          <a:xfrm>
            <a:off x="822960" y="2395727"/>
            <a:ext cx="329186" cy="329186"/>
          </a:xfrm>
          <a:prstGeom prst="rect">
            <a:avLst/>
          </a:prstGeom>
          <a:ln w="12700">
            <a:miter lim="400000"/>
          </a:ln>
        </p:spPr>
      </p:pic>
      <p:sp>
        <p:nvSpPr>
          <p:cNvPr id="41" name="Text 10"/>
          <p:cNvSpPr txBox="1"/>
          <p:nvPr/>
        </p:nvSpPr>
        <p:spPr>
          <a:xfrm>
            <a:off x="1371600" y="2465640"/>
            <a:ext cx="2743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52A36"/>
                </a:solidFill>
                <a:latin typeface="+mj-lt"/>
                <a:ea typeface="+mj-ea"/>
                <a:cs typeface="+mj-cs"/>
                <a:sym typeface="Calibri"/>
              </a:defRPr>
            </a:lvl1pPr>
          </a:lstStyle>
          <a:p>
            <a:pPr/>
            <a:r>
              <a:t>Model Architectures</a:t>
            </a:r>
          </a:p>
        </p:txBody>
      </p:sp>
      <p:sp>
        <p:nvSpPr>
          <p:cNvPr id="42" name="Text 11"/>
          <p:cNvSpPr txBox="1"/>
          <p:nvPr/>
        </p:nvSpPr>
        <p:spPr>
          <a:xfrm>
            <a:off x="3931920" y="2481887"/>
            <a:ext cx="438912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Custom CNN, MobileNetV2, ResNet50</a:t>
            </a:r>
          </a:p>
        </p:txBody>
      </p:sp>
      <p:pic>
        <p:nvPicPr>
          <p:cNvPr id="43" name="Image 3" descr="Image 3"/>
          <p:cNvPicPr>
            <a:picLocks noChangeAspect="1"/>
          </p:cNvPicPr>
          <p:nvPr/>
        </p:nvPicPr>
        <p:blipFill>
          <a:blip r:embed="rId5">
            <a:extLst/>
          </a:blip>
          <a:stretch>
            <a:fillRect/>
          </a:stretch>
        </p:blipFill>
        <p:spPr>
          <a:xfrm>
            <a:off x="822960" y="2999232"/>
            <a:ext cx="329186" cy="329186"/>
          </a:xfrm>
          <a:prstGeom prst="rect">
            <a:avLst/>
          </a:prstGeom>
          <a:ln w="12700">
            <a:miter lim="400000"/>
          </a:ln>
        </p:spPr>
      </p:pic>
      <p:sp>
        <p:nvSpPr>
          <p:cNvPr id="44" name="Text 13"/>
          <p:cNvSpPr txBox="1"/>
          <p:nvPr/>
        </p:nvSpPr>
        <p:spPr>
          <a:xfrm>
            <a:off x="1371600" y="3069144"/>
            <a:ext cx="2743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52A36"/>
                </a:solidFill>
                <a:latin typeface="+mj-lt"/>
                <a:ea typeface="+mj-ea"/>
                <a:cs typeface="+mj-cs"/>
                <a:sym typeface="Calibri"/>
              </a:defRPr>
            </a:lvl1pPr>
          </a:lstStyle>
          <a:p>
            <a:pPr/>
            <a:r>
              <a:t>Training &amp; Evaluation</a:t>
            </a:r>
          </a:p>
        </p:txBody>
      </p:sp>
      <p:sp>
        <p:nvSpPr>
          <p:cNvPr id="45" name="Text 14"/>
          <p:cNvSpPr txBox="1"/>
          <p:nvPr/>
        </p:nvSpPr>
        <p:spPr>
          <a:xfrm>
            <a:off x="3931920" y="3085390"/>
            <a:ext cx="43891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Accuracy, loss curves and confusion matrices</a:t>
            </a:r>
          </a:p>
        </p:txBody>
      </p:sp>
      <p:pic>
        <p:nvPicPr>
          <p:cNvPr id="46" name="Image 4" descr="Image 4"/>
          <p:cNvPicPr>
            <a:picLocks noChangeAspect="1"/>
          </p:cNvPicPr>
          <p:nvPr/>
        </p:nvPicPr>
        <p:blipFill>
          <a:blip r:embed="rId6">
            <a:extLst/>
          </a:blip>
          <a:stretch>
            <a:fillRect/>
          </a:stretch>
        </p:blipFill>
        <p:spPr>
          <a:xfrm>
            <a:off x="822960" y="3602735"/>
            <a:ext cx="329186" cy="329186"/>
          </a:xfrm>
          <a:prstGeom prst="rect">
            <a:avLst/>
          </a:prstGeom>
          <a:ln w="12700">
            <a:miter lim="400000"/>
          </a:ln>
        </p:spPr>
      </p:pic>
      <p:sp>
        <p:nvSpPr>
          <p:cNvPr id="47" name="Text 16"/>
          <p:cNvSpPr txBox="1"/>
          <p:nvPr/>
        </p:nvSpPr>
        <p:spPr>
          <a:xfrm>
            <a:off x="1371600" y="3672647"/>
            <a:ext cx="2743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52A36"/>
                </a:solidFill>
                <a:latin typeface="+mj-lt"/>
                <a:ea typeface="+mj-ea"/>
                <a:cs typeface="+mj-cs"/>
                <a:sym typeface="Calibri"/>
              </a:defRPr>
            </a:lvl1pPr>
          </a:lstStyle>
          <a:p>
            <a:pPr/>
            <a:r>
              <a:t>Model Comparison</a:t>
            </a:r>
          </a:p>
        </p:txBody>
      </p:sp>
      <p:sp>
        <p:nvSpPr>
          <p:cNvPr id="48" name="Text 17"/>
          <p:cNvSpPr txBox="1"/>
          <p:nvPr/>
        </p:nvSpPr>
        <p:spPr>
          <a:xfrm>
            <a:off x="3931920" y="3688894"/>
            <a:ext cx="43891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Side-by-side metrics and analysis</a:t>
            </a:r>
          </a:p>
        </p:txBody>
      </p:sp>
      <p:pic>
        <p:nvPicPr>
          <p:cNvPr id="49" name="Image 5" descr="Image 5"/>
          <p:cNvPicPr>
            <a:picLocks noChangeAspect="1"/>
          </p:cNvPicPr>
          <p:nvPr/>
        </p:nvPicPr>
        <p:blipFill>
          <a:blip r:embed="rId7">
            <a:extLst/>
          </a:blip>
          <a:stretch>
            <a:fillRect/>
          </a:stretch>
        </p:blipFill>
        <p:spPr>
          <a:xfrm>
            <a:off x="822960" y="4206240"/>
            <a:ext cx="329186" cy="329186"/>
          </a:xfrm>
          <a:prstGeom prst="rect">
            <a:avLst/>
          </a:prstGeom>
          <a:ln w="12700">
            <a:miter lim="400000"/>
          </a:ln>
        </p:spPr>
      </p:pic>
      <p:sp>
        <p:nvSpPr>
          <p:cNvPr id="50" name="Text 19"/>
          <p:cNvSpPr txBox="1"/>
          <p:nvPr/>
        </p:nvSpPr>
        <p:spPr>
          <a:xfrm>
            <a:off x="1371600" y="4276152"/>
            <a:ext cx="27432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52A36"/>
                </a:solidFill>
                <a:latin typeface="+mj-lt"/>
                <a:ea typeface="+mj-ea"/>
                <a:cs typeface="+mj-cs"/>
                <a:sym typeface="Calibri"/>
              </a:defRPr>
            </a:lvl1pPr>
          </a:lstStyle>
          <a:p>
            <a:pPr/>
            <a:r>
              <a:t>Conclusions &amp; Future Work</a:t>
            </a:r>
          </a:p>
        </p:txBody>
      </p:sp>
      <p:sp>
        <p:nvSpPr>
          <p:cNvPr id="51" name="Text 20"/>
          <p:cNvSpPr txBox="1"/>
          <p:nvPr/>
        </p:nvSpPr>
        <p:spPr>
          <a:xfrm>
            <a:off x="3931920" y="4292398"/>
            <a:ext cx="43891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Key takeaways and next steps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54" name="Text 1"/>
          <p:cNvSpPr txBox="1"/>
          <p:nvPr/>
        </p:nvSpPr>
        <p:spPr>
          <a:xfrm>
            <a:off x="640079" y="349249"/>
            <a:ext cx="548640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The CIFAR-10 Dataset</a:t>
            </a:r>
          </a:p>
        </p:txBody>
      </p:sp>
      <p:sp>
        <p:nvSpPr>
          <p:cNvPr id="55" name="Text 2"/>
          <p:cNvSpPr txBox="1"/>
          <p:nvPr/>
        </p:nvSpPr>
        <p:spPr>
          <a:xfrm>
            <a:off x="640079" y="899598"/>
            <a:ext cx="78638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3B5A6A"/>
                </a:solidFill>
                <a:latin typeface="+mj-lt"/>
                <a:ea typeface="+mj-ea"/>
                <a:cs typeface="+mj-cs"/>
                <a:sym typeface="Calibri"/>
              </a:defRPr>
            </a:lvl1pPr>
          </a:lstStyle>
          <a:p>
            <a:pPr/>
            <a:r>
              <a:t>60,000 color images (32×32 px) across 10 everyday object classes</a:t>
            </a:r>
          </a:p>
        </p:txBody>
      </p:sp>
      <p:sp>
        <p:nvSpPr>
          <p:cNvPr id="56" name="Text 4"/>
          <p:cNvSpPr txBox="1"/>
          <p:nvPr/>
        </p:nvSpPr>
        <p:spPr>
          <a:xfrm>
            <a:off x="640080" y="1404872"/>
            <a:ext cx="182880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2CA6B5"/>
                </a:solidFill>
                <a:latin typeface="Georgia"/>
                <a:ea typeface="Georgia"/>
                <a:cs typeface="Georgia"/>
                <a:sym typeface="Georgia"/>
              </a:defRPr>
            </a:lvl1pPr>
          </a:lstStyle>
          <a:p>
            <a:pPr/>
            <a:r>
              <a:t>50,000</a:t>
            </a:r>
          </a:p>
        </p:txBody>
      </p:sp>
      <p:sp>
        <p:nvSpPr>
          <p:cNvPr id="57" name="Text 5"/>
          <p:cNvSpPr txBox="1"/>
          <p:nvPr/>
        </p:nvSpPr>
        <p:spPr>
          <a:xfrm>
            <a:off x="640080" y="1897423"/>
            <a:ext cx="18288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A9DAD"/>
                </a:solidFill>
                <a:latin typeface="+mj-lt"/>
                <a:ea typeface="+mj-ea"/>
                <a:cs typeface="+mj-cs"/>
                <a:sym typeface="Calibri"/>
              </a:defRPr>
            </a:lvl1pPr>
          </a:lstStyle>
          <a:p>
            <a:pPr/>
            <a:r>
              <a:t>Training Images</a:t>
            </a:r>
          </a:p>
        </p:txBody>
      </p:sp>
      <p:sp>
        <p:nvSpPr>
          <p:cNvPr id="58" name="Text 7"/>
          <p:cNvSpPr txBox="1"/>
          <p:nvPr/>
        </p:nvSpPr>
        <p:spPr>
          <a:xfrm>
            <a:off x="2697478" y="1404872"/>
            <a:ext cx="182880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2CA6B5"/>
                </a:solidFill>
                <a:latin typeface="Georgia"/>
                <a:ea typeface="Georgia"/>
                <a:cs typeface="Georgia"/>
                <a:sym typeface="Georgia"/>
              </a:defRPr>
            </a:lvl1pPr>
          </a:lstStyle>
          <a:p>
            <a:pPr/>
            <a:r>
              <a:t>10,000</a:t>
            </a:r>
          </a:p>
        </p:txBody>
      </p:sp>
      <p:sp>
        <p:nvSpPr>
          <p:cNvPr id="59" name="Text 8"/>
          <p:cNvSpPr txBox="1"/>
          <p:nvPr/>
        </p:nvSpPr>
        <p:spPr>
          <a:xfrm>
            <a:off x="2697478" y="1897423"/>
            <a:ext cx="182880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A9DAD"/>
                </a:solidFill>
                <a:latin typeface="+mj-lt"/>
                <a:ea typeface="+mj-ea"/>
                <a:cs typeface="+mj-cs"/>
                <a:sym typeface="Calibri"/>
              </a:defRPr>
            </a:lvl1pPr>
          </a:lstStyle>
          <a:p>
            <a:pPr/>
            <a:r>
              <a:t>Test Images</a:t>
            </a:r>
          </a:p>
        </p:txBody>
      </p:sp>
      <p:sp>
        <p:nvSpPr>
          <p:cNvPr id="60" name="Text 10"/>
          <p:cNvSpPr txBox="1"/>
          <p:nvPr/>
        </p:nvSpPr>
        <p:spPr>
          <a:xfrm>
            <a:off x="4754879" y="1404872"/>
            <a:ext cx="182880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2CA6B5"/>
                </a:solidFill>
                <a:latin typeface="Georgia"/>
                <a:ea typeface="Georgia"/>
                <a:cs typeface="Georgia"/>
                <a:sym typeface="Georgia"/>
              </a:defRPr>
            </a:lvl1pPr>
          </a:lstStyle>
          <a:p>
            <a:pPr/>
            <a:r>
              <a:t>10</a:t>
            </a:r>
          </a:p>
        </p:txBody>
      </p:sp>
      <p:sp>
        <p:nvSpPr>
          <p:cNvPr id="61" name="Text 11"/>
          <p:cNvSpPr txBox="1"/>
          <p:nvPr/>
        </p:nvSpPr>
        <p:spPr>
          <a:xfrm>
            <a:off x="4754879" y="1897423"/>
            <a:ext cx="182880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A9DAD"/>
                </a:solidFill>
                <a:latin typeface="+mj-lt"/>
                <a:ea typeface="+mj-ea"/>
                <a:cs typeface="+mj-cs"/>
                <a:sym typeface="Calibri"/>
              </a:defRPr>
            </a:lvl1pPr>
          </a:lstStyle>
          <a:p>
            <a:pPr/>
            <a:r>
              <a:t>Classes</a:t>
            </a:r>
          </a:p>
        </p:txBody>
      </p:sp>
      <p:sp>
        <p:nvSpPr>
          <p:cNvPr id="62" name="Text 13"/>
          <p:cNvSpPr txBox="1"/>
          <p:nvPr/>
        </p:nvSpPr>
        <p:spPr>
          <a:xfrm>
            <a:off x="6812280" y="1404872"/>
            <a:ext cx="1828802"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2CA6B5"/>
                </a:solidFill>
                <a:latin typeface="Georgia"/>
                <a:ea typeface="Georgia"/>
                <a:cs typeface="Georgia"/>
                <a:sym typeface="Georgia"/>
              </a:defRPr>
            </a:lvl1pPr>
          </a:lstStyle>
          <a:p>
            <a:pPr/>
            <a:r>
              <a:t>32×32</a:t>
            </a:r>
          </a:p>
        </p:txBody>
      </p:sp>
      <p:sp>
        <p:nvSpPr>
          <p:cNvPr id="63" name="Text 14"/>
          <p:cNvSpPr txBox="1"/>
          <p:nvPr/>
        </p:nvSpPr>
        <p:spPr>
          <a:xfrm>
            <a:off x="6812280" y="1897423"/>
            <a:ext cx="182880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A9DAD"/>
                </a:solidFill>
                <a:latin typeface="+mj-lt"/>
                <a:ea typeface="+mj-ea"/>
                <a:cs typeface="+mj-cs"/>
                <a:sym typeface="Calibri"/>
              </a:defRPr>
            </a:lvl1pPr>
          </a:lstStyle>
          <a:p>
            <a:pPr/>
            <a:r>
              <a:t>Resolution (px)</a:t>
            </a:r>
          </a:p>
        </p:txBody>
      </p:sp>
      <p:sp>
        <p:nvSpPr>
          <p:cNvPr id="64" name="Text 15"/>
          <p:cNvSpPr txBox="1"/>
          <p:nvPr/>
        </p:nvSpPr>
        <p:spPr>
          <a:xfrm>
            <a:off x="640079" y="2401746"/>
            <a:ext cx="78638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7A9DAD"/>
                </a:solidFill>
                <a:latin typeface="+mj-lt"/>
                <a:ea typeface="+mj-ea"/>
                <a:cs typeface="+mj-cs"/>
                <a:sym typeface="Calibri"/>
              </a:defRPr>
            </a:lvl1pPr>
          </a:lstStyle>
          <a:p>
            <a:pPr/>
            <a:r>
              <a:t>Classes:  airplane  •  automobile  •  bird  •  cat  •  deer  •  dog  •  frog  •  horse  •  ship  •  truck</a:t>
            </a:r>
          </a:p>
        </p:txBody>
      </p:sp>
      <p:sp>
        <p:nvSpPr>
          <p:cNvPr id="65" name="Shape 19"/>
          <p:cNvSpPr/>
          <p:nvPr/>
        </p:nvSpPr>
        <p:spPr>
          <a:xfrm>
            <a:off x="-1828800" y="4663440"/>
            <a:ext cx="12801600" cy="2011683"/>
          </a:xfrm>
          <a:prstGeom prst="ellipse">
            <a:avLst/>
          </a:prstGeom>
          <a:solidFill>
            <a:srgbClr val="E8CFA0">
              <a:alpha val="86000"/>
            </a:srgbClr>
          </a:solidFill>
          <a:ln w="12700">
            <a:miter lim="400000"/>
          </a:ln>
        </p:spPr>
        <p:txBody>
          <a:bodyPr lIns="45718" tIns="45718" rIns="45718" bIns="45718"/>
          <a:lstStyle/>
          <a:p>
            <a:pPr>
              <a:defRPr>
                <a:latin typeface="+mj-lt"/>
                <a:ea typeface="+mj-ea"/>
                <a:cs typeface="+mj-cs"/>
                <a:sym typeface="Calibri"/>
              </a:defRPr>
            </a:pPr>
          </a:p>
        </p:txBody>
      </p:sp>
      <p:pic>
        <p:nvPicPr>
          <p:cNvPr id="66" name="Screenshot 2026-03-27 at 11.09.03.png" descr="Screenshot 2026-03-27 at 11.09.03.png"/>
          <p:cNvPicPr>
            <a:picLocks noChangeAspect="1"/>
          </p:cNvPicPr>
          <p:nvPr/>
        </p:nvPicPr>
        <p:blipFill>
          <a:blip r:embed="rId2">
            <a:extLst/>
          </a:blip>
          <a:stretch>
            <a:fillRect/>
          </a:stretch>
        </p:blipFill>
        <p:spPr>
          <a:xfrm>
            <a:off x="615318" y="2821750"/>
            <a:ext cx="1353767" cy="1555955"/>
          </a:xfrm>
          <a:prstGeom prst="rect">
            <a:avLst/>
          </a:prstGeom>
          <a:ln w="12700">
            <a:miter lim="400000"/>
          </a:ln>
        </p:spPr>
      </p:pic>
      <p:pic>
        <p:nvPicPr>
          <p:cNvPr id="67" name="Screenshot 2026-03-27 at 11.09.23.png" descr="Screenshot 2026-03-27 at 11.09.23.png"/>
          <p:cNvPicPr>
            <a:picLocks noChangeAspect="1"/>
          </p:cNvPicPr>
          <p:nvPr/>
        </p:nvPicPr>
        <p:blipFill>
          <a:blip r:embed="rId3">
            <a:extLst/>
          </a:blip>
          <a:stretch>
            <a:fillRect/>
          </a:stretch>
        </p:blipFill>
        <p:spPr>
          <a:xfrm>
            <a:off x="2189232" y="2845442"/>
            <a:ext cx="1333155" cy="1508569"/>
          </a:xfrm>
          <a:prstGeom prst="rect">
            <a:avLst/>
          </a:prstGeom>
          <a:ln w="12700">
            <a:miter lim="400000"/>
          </a:ln>
        </p:spPr>
      </p:pic>
      <p:pic>
        <p:nvPicPr>
          <p:cNvPr id="68" name="Screenshot 2026-03-27 at 11.09.30.png" descr="Screenshot 2026-03-27 at 11.09.30.png"/>
          <p:cNvPicPr>
            <a:picLocks noChangeAspect="1"/>
          </p:cNvPicPr>
          <p:nvPr/>
        </p:nvPicPr>
        <p:blipFill>
          <a:blip r:embed="rId4">
            <a:extLst/>
          </a:blip>
          <a:stretch>
            <a:fillRect/>
          </a:stretch>
        </p:blipFill>
        <p:spPr>
          <a:xfrm>
            <a:off x="3706700" y="2817452"/>
            <a:ext cx="1425686" cy="1564551"/>
          </a:xfrm>
          <a:prstGeom prst="rect">
            <a:avLst/>
          </a:prstGeom>
          <a:ln w="12700">
            <a:miter lim="400000"/>
          </a:ln>
        </p:spPr>
      </p:pic>
      <p:pic>
        <p:nvPicPr>
          <p:cNvPr id="69" name="Screenshot 2026-03-27 at 11.09.36.png" descr="Screenshot 2026-03-27 at 11.09.36.png"/>
          <p:cNvPicPr>
            <a:picLocks noChangeAspect="1"/>
          </p:cNvPicPr>
          <p:nvPr/>
        </p:nvPicPr>
        <p:blipFill>
          <a:blip r:embed="rId5">
            <a:extLst/>
          </a:blip>
          <a:stretch>
            <a:fillRect/>
          </a:stretch>
        </p:blipFill>
        <p:spPr>
          <a:xfrm>
            <a:off x="5471386" y="2817452"/>
            <a:ext cx="1379397" cy="1564551"/>
          </a:xfrm>
          <a:prstGeom prst="rect">
            <a:avLst/>
          </a:prstGeom>
          <a:ln w="12700">
            <a:miter lim="400000"/>
          </a:ln>
        </p:spPr>
      </p:pic>
      <p:pic>
        <p:nvPicPr>
          <p:cNvPr id="70" name="Screenshot 2026-03-27 at 11.09.51.png" descr="Screenshot 2026-03-27 at 11.09.51.png"/>
          <p:cNvPicPr>
            <a:picLocks noChangeAspect="1"/>
          </p:cNvPicPr>
          <p:nvPr/>
        </p:nvPicPr>
        <p:blipFill>
          <a:blip r:embed="rId6">
            <a:extLst/>
          </a:blip>
          <a:stretch>
            <a:fillRect/>
          </a:stretch>
        </p:blipFill>
        <p:spPr>
          <a:xfrm>
            <a:off x="7145915" y="2819586"/>
            <a:ext cx="1382767" cy="1560283"/>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4E8"/>
        </a:solidFill>
      </p:bgPr>
    </p:bg>
    <p:spTree>
      <p:nvGrpSpPr>
        <p:cNvPr id="1" name=""/>
        <p:cNvGrpSpPr/>
        <p:nvPr/>
      </p:nvGrpSpPr>
      <p:grpSpPr>
        <a:xfrm>
          <a:off x="0" y="0"/>
          <a:ext cx="0" cy="0"/>
          <a:chOff x="0" y="0"/>
          <a:chExt cx="0" cy="0"/>
        </a:xfrm>
      </p:grpSpPr>
      <p:sp>
        <p:nvSpPr>
          <p:cNvPr id="72"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73" name="Text 1"/>
          <p:cNvSpPr txBox="1"/>
          <p:nvPr/>
        </p:nvSpPr>
        <p:spPr>
          <a:xfrm>
            <a:off x="640079" y="349249"/>
            <a:ext cx="548640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Exploratory Data Analysis</a:t>
            </a:r>
          </a:p>
        </p:txBody>
      </p:sp>
      <p:sp>
        <p:nvSpPr>
          <p:cNvPr id="74" name="Text 2"/>
          <p:cNvSpPr txBox="1"/>
          <p:nvPr/>
        </p:nvSpPr>
        <p:spPr>
          <a:xfrm>
            <a:off x="640079" y="1118302"/>
            <a:ext cx="3931923"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A6373"/>
                </a:solidFill>
                <a:latin typeface="+mj-lt"/>
                <a:ea typeface="+mj-ea"/>
                <a:cs typeface="+mj-cs"/>
                <a:sym typeface="Calibri"/>
              </a:defRPr>
            </a:lvl1pPr>
          </a:lstStyle>
          <a:p>
            <a:pPr/>
            <a:r>
              <a:t>Class Distribution</a:t>
            </a:r>
          </a:p>
        </p:txBody>
      </p:sp>
      <p:sp>
        <p:nvSpPr>
          <p:cNvPr id="75" name="Text 3"/>
          <p:cNvSpPr txBox="1"/>
          <p:nvPr/>
        </p:nvSpPr>
        <p:spPr>
          <a:xfrm>
            <a:off x="640079" y="1453235"/>
            <a:ext cx="3931923" cy="339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100">
                <a:solidFill>
                  <a:srgbClr val="3B5A6A"/>
                </a:solidFill>
                <a:latin typeface="+mj-lt"/>
                <a:ea typeface="+mj-ea"/>
                <a:cs typeface="+mj-cs"/>
                <a:sym typeface="Calibri"/>
              </a:defRPr>
            </a:lvl1pPr>
          </a:lstStyle>
          <a:p>
            <a:pPr/>
            <a:r>
              <a:t>Both training and test sets are perfectly balanced — 5,000 and 1,000 images per class respectively. No resampling needed.</a:t>
            </a:r>
          </a:p>
        </p:txBody>
      </p:sp>
      <p:sp>
        <p:nvSpPr>
          <p:cNvPr id="76" name="Text 6"/>
          <p:cNvSpPr txBox="1"/>
          <p:nvPr/>
        </p:nvSpPr>
        <p:spPr>
          <a:xfrm>
            <a:off x="4846320" y="1118302"/>
            <a:ext cx="393192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A6373"/>
                </a:solidFill>
                <a:latin typeface="+mj-lt"/>
                <a:ea typeface="+mj-ea"/>
                <a:cs typeface="+mj-cs"/>
                <a:sym typeface="Calibri"/>
              </a:defRPr>
            </a:lvl1pPr>
          </a:lstStyle>
          <a:p>
            <a:pPr/>
            <a:r>
              <a:t>Pixel Statistics (RGB)</a:t>
            </a:r>
          </a:p>
        </p:txBody>
      </p:sp>
      <p:sp>
        <p:nvSpPr>
          <p:cNvPr id="77" name="Text 7"/>
          <p:cNvSpPr txBox="1"/>
          <p:nvPr/>
        </p:nvSpPr>
        <p:spPr>
          <a:xfrm>
            <a:off x="4846320" y="1453235"/>
            <a:ext cx="3931921" cy="339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100">
                <a:solidFill>
                  <a:srgbClr val="3B5A6A"/>
                </a:solidFill>
                <a:latin typeface="+mj-lt"/>
                <a:ea typeface="+mj-ea"/>
                <a:cs typeface="+mj-cs"/>
                <a:sym typeface="Calibri"/>
              </a:defRPr>
            </a:lvl1pPr>
          </a:lstStyle>
          <a:p>
            <a:pPr/>
            <a:r>
              <a:t>Per-channel means are close (~120–130), indicating natural-color images with moderate brightness and balanced channels.</a:t>
            </a:r>
          </a:p>
        </p:txBody>
      </p:sp>
      <p:pic>
        <p:nvPicPr>
          <p:cNvPr id="78" name="Screenshot 2026-03-27 at 11.13.44.png" descr="Screenshot 2026-03-27 at 11.13.44.png"/>
          <p:cNvPicPr>
            <a:picLocks noChangeAspect="1"/>
          </p:cNvPicPr>
          <p:nvPr/>
        </p:nvPicPr>
        <p:blipFill>
          <a:blip r:embed="rId2">
            <a:extLst/>
          </a:blip>
          <a:stretch>
            <a:fillRect/>
          </a:stretch>
        </p:blipFill>
        <p:spPr>
          <a:xfrm>
            <a:off x="615937" y="2073781"/>
            <a:ext cx="3744612" cy="2611733"/>
          </a:xfrm>
          <a:prstGeom prst="rect">
            <a:avLst/>
          </a:prstGeom>
          <a:ln w="12700">
            <a:miter lim="400000"/>
          </a:ln>
        </p:spPr>
      </p:pic>
      <p:pic>
        <p:nvPicPr>
          <p:cNvPr id="79" name="Screenshot 2026-03-27 at 11.14.52.png" descr="Screenshot 2026-03-27 at 11.14.52.png"/>
          <p:cNvPicPr>
            <a:picLocks noChangeAspect="1"/>
          </p:cNvPicPr>
          <p:nvPr/>
        </p:nvPicPr>
        <p:blipFill>
          <a:blip r:embed="rId3">
            <a:extLst/>
          </a:blip>
          <a:stretch>
            <a:fillRect/>
          </a:stretch>
        </p:blipFill>
        <p:spPr>
          <a:xfrm>
            <a:off x="4824848" y="1964343"/>
            <a:ext cx="1811211" cy="1414234"/>
          </a:xfrm>
          <a:prstGeom prst="rect">
            <a:avLst/>
          </a:prstGeom>
          <a:ln w="12700">
            <a:miter lim="400000"/>
          </a:ln>
        </p:spPr>
      </p:pic>
      <p:pic>
        <p:nvPicPr>
          <p:cNvPr id="80" name="Screenshot 2026-03-27 at 11.15.26.png" descr="Screenshot 2026-03-27 at 11.15.26.png"/>
          <p:cNvPicPr>
            <a:picLocks noChangeAspect="1"/>
          </p:cNvPicPr>
          <p:nvPr/>
        </p:nvPicPr>
        <p:blipFill>
          <a:blip r:embed="rId4">
            <a:extLst/>
          </a:blip>
          <a:stretch>
            <a:fillRect/>
          </a:stretch>
        </p:blipFill>
        <p:spPr>
          <a:xfrm>
            <a:off x="6680975" y="1964343"/>
            <a:ext cx="1880682" cy="1414234"/>
          </a:xfrm>
          <a:prstGeom prst="rect">
            <a:avLst/>
          </a:prstGeom>
          <a:ln w="12700">
            <a:miter lim="400000"/>
          </a:ln>
        </p:spPr>
      </p:pic>
      <p:pic>
        <p:nvPicPr>
          <p:cNvPr id="81" name="Screenshot 2026-03-27 at 11.15.38.png" descr="Screenshot 2026-03-27 at 11.15.38.png"/>
          <p:cNvPicPr>
            <a:picLocks noChangeAspect="1"/>
          </p:cNvPicPr>
          <p:nvPr/>
        </p:nvPicPr>
        <p:blipFill>
          <a:blip r:embed="rId5">
            <a:extLst/>
          </a:blip>
          <a:stretch>
            <a:fillRect/>
          </a:stretch>
        </p:blipFill>
        <p:spPr>
          <a:xfrm>
            <a:off x="5719760" y="3409582"/>
            <a:ext cx="1828543" cy="1414343"/>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84" name="Text 1"/>
          <p:cNvSpPr txBox="1"/>
          <p:nvPr/>
        </p:nvSpPr>
        <p:spPr>
          <a:xfrm>
            <a:off x="640079" y="349249"/>
            <a:ext cx="548640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Preprocessing</a:t>
            </a:r>
          </a:p>
        </p:txBody>
      </p:sp>
      <p:sp>
        <p:nvSpPr>
          <p:cNvPr id="85" name="Shape 3"/>
          <p:cNvSpPr/>
          <p:nvPr/>
        </p:nvSpPr>
        <p:spPr>
          <a:xfrm>
            <a:off x="640080" y="1097280"/>
            <a:ext cx="73154" cy="1051562"/>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86" name="Text 4"/>
          <p:cNvSpPr txBox="1"/>
          <p:nvPr/>
        </p:nvSpPr>
        <p:spPr>
          <a:xfrm>
            <a:off x="960119" y="1260032"/>
            <a:ext cx="731520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52A36"/>
                </a:solidFill>
                <a:latin typeface="+mj-lt"/>
                <a:ea typeface="+mj-ea"/>
                <a:cs typeface="+mj-cs"/>
                <a:sym typeface="Calibri"/>
              </a:defRPr>
            </a:lvl1pPr>
          </a:lstStyle>
          <a:p>
            <a:pPr/>
            <a:r>
              <a:t>Pixel Normalization</a:t>
            </a:r>
          </a:p>
        </p:txBody>
      </p:sp>
      <p:sp>
        <p:nvSpPr>
          <p:cNvPr id="87" name="Text 5"/>
          <p:cNvSpPr txBox="1"/>
          <p:nvPr/>
        </p:nvSpPr>
        <p:spPr>
          <a:xfrm>
            <a:off x="960119" y="1617827"/>
            <a:ext cx="7315201" cy="339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100">
                <a:solidFill>
                  <a:srgbClr val="3B5A6A"/>
                </a:solidFill>
                <a:latin typeface="+mj-lt"/>
                <a:ea typeface="+mj-ea"/>
                <a:cs typeface="+mj-cs"/>
                <a:sym typeface="Calibri"/>
              </a:defRPr>
            </a:lvl1pPr>
          </a:lstStyle>
          <a:p>
            <a:pPr/>
            <a:r>
              <a:t>Scaled pixel values from [0, 255] to [0, 1] by dividing by 255. This improves gradient flow and training stability across all three models.</a:t>
            </a:r>
          </a:p>
        </p:txBody>
      </p:sp>
      <p:sp>
        <p:nvSpPr>
          <p:cNvPr id="88" name="Shape 7"/>
          <p:cNvSpPr/>
          <p:nvPr/>
        </p:nvSpPr>
        <p:spPr>
          <a:xfrm>
            <a:off x="640080" y="2331720"/>
            <a:ext cx="73154" cy="1051562"/>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89" name="Text 8"/>
          <p:cNvSpPr txBox="1"/>
          <p:nvPr/>
        </p:nvSpPr>
        <p:spPr>
          <a:xfrm>
            <a:off x="960119" y="2494474"/>
            <a:ext cx="73152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52A36"/>
                </a:solidFill>
                <a:latin typeface="+mj-lt"/>
                <a:ea typeface="+mj-ea"/>
                <a:cs typeface="+mj-cs"/>
                <a:sym typeface="Calibri"/>
              </a:defRPr>
            </a:lvl1pPr>
          </a:lstStyle>
          <a:p>
            <a:pPr/>
            <a:r>
              <a:t>Input Handling</a:t>
            </a:r>
          </a:p>
        </p:txBody>
      </p:sp>
      <p:sp>
        <p:nvSpPr>
          <p:cNvPr id="90" name="Text 9"/>
          <p:cNvSpPr txBox="1"/>
          <p:nvPr/>
        </p:nvSpPr>
        <p:spPr>
          <a:xfrm>
            <a:off x="960119" y="2852266"/>
            <a:ext cx="7315201" cy="3396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100">
                <a:solidFill>
                  <a:srgbClr val="3B5A6A"/>
                </a:solidFill>
                <a:latin typeface="+mj-lt"/>
                <a:ea typeface="+mj-ea"/>
                <a:cs typeface="+mj-cs"/>
                <a:sym typeface="Calibri"/>
              </a:defRPr>
            </a:lvl1pPr>
          </a:lstStyle>
          <a:p>
            <a:pPr/>
            <a:r>
              <a:t>Custom CNN accepts the native 32×32 inputs. MobileNetV2 and ResNet50 include a built-in Resizing layer that upscales to 96×96 before the pretrained backbone.</a:t>
            </a:r>
          </a:p>
        </p:txBody>
      </p:sp>
      <p:sp>
        <p:nvSpPr>
          <p:cNvPr id="91" name="Shape 11"/>
          <p:cNvSpPr/>
          <p:nvPr/>
        </p:nvSpPr>
        <p:spPr>
          <a:xfrm>
            <a:off x="640080" y="3566159"/>
            <a:ext cx="73154" cy="1051562"/>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92" name="Text 12"/>
          <p:cNvSpPr txBox="1"/>
          <p:nvPr/>
        </p:nvSpPr>
        <p:spPr>
          <a:xfrm>
            <a:off x="960119" y="3728913"/>
            <a:ext cx="73152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52A36"/>
                </a:solidFill>
                <a:latin typeface="+mj-lt"/>
                <a:ea typeface="+mj-ea"/>
                <a:cs typeface="+mj-cs"/>
                <a:sym typeface="Calibri"/>
              </a:defRPr>
            </a:lvl1pPr>
          </a:lstStyle>
          <a:p>
            <a:pPr/>
            <a:r>
              <a:t>Training Strategy</a:t>
            </a:r>
          </a:p>
        </p:txBody>
      </p:sp>
      <p:sp>
        <p:nvSpPr>
          <p:cNvPr id="93" name="Text 13"/>
          <p:cNvSpPr txBox="1"/>
          <p:nvPr/>
        </p:nvSpPr>
        <p:spPr>
          <a:xfrm>
            <a:off x="960119" y="4086707"/>
            <a:ext cx="7315201" cy="339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100">
                <a:solidFill>
                  <a:srgbClr val="3B5A6A"/>
                </a:solidFill>
                <a:latin typeface="+mj-lt"/>
                <a:ea typeface="+mj-ea"/>
                <a:cs typeface="+mj-cs"/>
                <a:sym typeface="Calibri"/>
              </a:defRPr>
            </a:lvl1pPr>
          </a:lstStyle>
          <a:p>
            <a:pPr/>
            <a:r>
              <a:t>All models share EarlyStopping (patience: 5) to prevent overfitting and ReduceLROnPlateau (patience: 3) to adaptively lower learning rates during training plateaus.</a:t>
            </a:r>
          </a:p>
        </p:txBody>
      </p:sp>
      <p:sp>
        <p:nvSpPr>
          <p:cNvPr id="94" name="Shape 15"/>
          <p:cNvSpPr/>
          <p:nvPr/>
        </p:nvSpPr>
        <p:spPr>
          <a:xfrm>
            <a:off x="-1828800" y="4663440"/>
            <a:ext cx="12801600" cy="2011683"/>
          </a:xfrm>
          <a:prstGeom prst="ellipse">
            <a:avLst/>
          </a:prstGeom>
          <a:solidFill>
            <a:srgbClr val="A8E4E0">
              <a:alpha val="92000"/>
            </a:srgbClr>
          </a:solidFill>
          <a:ln w="12700">
            <a:miter lim="400000"/>
          </a:ln>
        </p:spPr>
        <p:txBody>
          <a:bodyPr lIns="45718" tIns="45718" rIns="45718" bIns="45718"/>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4E8"/>
        </a:solidFill>
      </p:bgPr>
    </p:bg>
    <p:spTree>
      <p:nvGrpSpPr>
        <p:cNvPr id="1" name=""/>
        <p:cNvGrpSpPr/>
        <p:nvPr/>
      </p:nvGrpSpPr>
      <p:grpSpPr>
        <a:xfrm>
          <a:off x="0" y="0"/>
          <a:ext cx="0" cy="0"/>
          <a:chOff x="0" y="0"/>
          <a:chExt cx="0" cy="0"/>
        </a:xfrm>
      </p:grpSpPr>
      <p:sp>
        <p:nvSpPr>
          <p:cNvPr id="96"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97" name="Text 1"/>
          <p:cNvSpPr txBox="1"/>
          <p:nvPr/>
        </p:nvSpPr>
        <p:spPr>
          <a:xfrm>
            <a:off x="640079" y="349249"/>
            <a:ext cx="548640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Model Architectures</a:t>
            </a:r>
          </a:p>
        </p:txBody>
      </p:sp>
      <p:sp>
        <p:nvSpPr>
          <p:cNvPr id="98" name="Text 2"/>
          <p:cNvSpPr txBox="1"/>
          <p:nvPr/>
        </p:nvSpPr>
        <p:spPr>
          <a:xfrm>
            <a:off x="640079" y="832156"/>
            <a:ext cx="786384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Three approaches compared: a custom CNN built from scratch, and two transfer learning models with frozen pretrained weights.</a:t>
            </a:r>
          </a:p>
        </p:txBody>
      </p:sp>
      <p:sp>
        <p:nvSpPr>
          <p:cNvPr id="99" name="Shape 4"/>
          <p:cNvSpPr/>
          <p:nvPr/>
        </p:nvSpPr>
        <p:spPr>
          <a:xfrm>
            <a:off x="457198" y="1325880"/>
            <a:ext cx="2697483" cy="54866"/>
          </a:xfrm>
          <a:prstGeom prst="rect">
            <a:avLst/>
          </a:prstGeom>
          <a:solidFill>
            <a:srgbClr val="E0885E"/>
          </a:solidFill>
          <a:ln w="12700">
            <a:miter lim="400000"/>
          </a:ln>
        </p:spPr>
        <p:txBody>
          <a:bodyPr lIns="45718" tIns="45718" rIns="45718" bIns="45718"/>
          <a:lstStyle/>
          <a:p>
            <a:pPr>
              <a:defRPr>
                <a:latin typeface="+mj-lt"/>
                <a:ea typeface="+mj-ea"/>
                <a:cs typeface="+mj-cs"/>
                <a:sym typeface="Calibri"/>
              </a:defRPr>
            </a:pPr>
          </a:p>
        </p:txBody>
      </p:sp>
      <p:sp>
        <p:nvSpPr>
          <p:cNvPr id="100" name="Text 5"/>
          <p:cNvSpPr txBox="1"/>
          <p:nvPr/>
        </p:nvSpPr>
        <p:spPr>
          <a:xfrm>
            <a:off x="457198" y="1462022"/>
            <a:ext cx="2697483"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2A36"/>
                </a:solidFill>
                <a:latin typeface="Georgia"/>
                <a:ea typeface="Georgia"/>
                <a:cs typeface="Georgia"/>
                <a:sym typeface="Georgia"/>
              </a:defRPr>
            </a:lvl1pPr>
          </a:lstStyle>
          <a:p>
            <a:pPr/>
            <a:r>
              <a:t>Custom CNN</a:t>
            </a:r>
          </a:p>
        </p:txBody>
      </p:sp>
      <p:sp>
        <p:nvSpPr>
          <p:cNvPr id="101" name="Text 6"/>
          <p:cNvSpPr txBox="1"/>
          <p:nvPr/>
        </p:nvSpPr>
        <p:spPr>
          <a:xfrm>
            <a:off x="548640" y="1802854"/>
            <a:ext cx="2514601" cy="2713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15000"/>
              </a:lnSpc>
              <a:defRPr sz="900">
                <a:solidFill>
                  <a:srgbClr val="7A9DAD"/>
                </a:solidFill>
                <a:latin typeface="+mj-lt"/>
                <a:ea typeface="+mj-ea"/>
                <a:cs typeface="+mj-cs"/>
                <a:sym typeface="Calibri"/>
              </a:defRPr>
            </a:pPr>
            <a:r>
              <a:t>~4.6M params</a:t>
            </a:r>
          </a:p>
          <a:p>
            <a:pPr algn="ctr">
              <a:lnSpc>
                <a:spcPct val="115000"/>
              </a:lnSpc>
              <a:defRPr sz="900">
                <a:solidFill>
                  <a:srgbClr val="7A9DAD"/>
                </a:solidFill>
                <a:latin typeface="+mj-lt"/>
                <a:ea typeface="+mj-ea"/>
                <a:cs typeface="+mj-cs"/>
                <a:sym typeface="Calibri"/>
              </a:defRPr>
            </a:pPr>
            <a:r>
              <a:t>4 Aug blocks + 4 Conv blocks + Dense head</a:t>
            </a:r>
          </a:p>
        </p:txBody>
      </p:sp>
      <p:sp>
        <p:nvSpPr>
          <p:cNvPr id="102" name="Shape 10"/>
          <p:cNvSpPr/>
          <p:nvPr/>
        </p:nvSpPr>
        <p:spPr>
          <a:xfrm>
            <a:off x="3337559" y="1325880"/>
            <a:ext cx="2697482" cy="54866"/>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103" name="Text 11"/>
          <p:cNvSpPr txBox="1"/>
          <p:nvPr/>
        </p:nvSpPr>
        <p:spPr>
          <a:xfrm>
            <a:off x="3337559" y="1462022"/>
            <a:ext cx="269748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2A36"/>
                </a:solidFill>
                <a:latin typeface="Georgia"/>
                <a:ea typeface="Georgia"/>
                <a:cs typeface="Georgia"/>
                <a:sym typeface="Georgia"/>
              </a:defRPr>
            </a:lvl1pPr>
          </a:lstStyle>
          <a:p>
            <a:pPr/>
            <a:r>
              <a:t>MobileNetV2</a:t>
            </a:r>
          </a:p>
        </p:txBody>
      </p:sp>
      <p:sp>
        <p:nvSpPr>
          <p:cNvPr id="104" name="Text 12"/>
          <p:cNvSpPr txBox="1"/>
          <p:nvPr/>
        </p:nvSpPr>
        <p:spPr>
          <a:xfrm>
            <a:off x="3429000" y="1724419"/>
            <a:ext cx="2514600" cy="42821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15000"/>
              </a:lnSpc>
              <a:defRPr sz="900">
                <a:solidFill>
                  <a:srgbClr val="7A9DAD"/>
                </a:solidFill>
                <a:latin typeface="+mj-lt"/>
                <a:ea typeface="+mj-ea"/>
                <a:cs typeface="+mj-cs"/>
                <a:sym typeface="Calibri"/>
              </a:defRPr>
            </a:pPr>
            <a:r>
              <a:t>~2.3M params</a:t>
            </a:r>
          </a:p>
          <a:p>
            <a:pPr algn="ctr">
              <a:lnSpc>
                <a:spcPct val="115000"/>
              </a:lnSpc>
              <a:defRPr sz="900">
                <a:solidFill>
                  <a:srgbClr val="7A9DAD"/>
                </a:solidFill>
                <a:latin typeface="+mj-lt"/>
                <a:ea typeface="+mj-ea"/>
                <a:cs typeface="+mj-cs"/>
                <a:sym typeface="Calibri"/>
              </a:defRPr>
            </a:pPr>
            <a:r>
              <a:t>Transfer learning (frozen)</a:t>
            </a:r>
          </a:p>
          <a:p>
            <a:pPr algn="ctr">
              <a:lnSpc>
                <a:spcPct val="115000"/>
              </a:lnSpc>
              <a:defRPr sz="900">
                <a:solidFill>
                  <a:srgbClr val="7A9DAD"/>
                </a:solidFill>
                <a:latin typeface="+mj-lt"/>
                <a:ea typeface="+mj-ea"/>
                <a:cs typeface="+mj-cs"/>
                <a:sym typeface="Calibri"/>
              </a:defRPr>
            </a:pPr>
            <a:r>
              <a:t>32→96×96 upscaled</a:t>
            </a:r>
          </a:p>
        </p:txBody>
      </p:sp>
      <p:sp>
        <p:nvSpPr>
          <p:cNvPr id="105" name="Shape 16"/>
          <p:cNvSpPr/>
          <p:nvPr/>
        </p:nvSpPr>
        <p:spPr>
          <a:xfrm>
            <a:off x="6217920" y="1325880"/>
            <a:ext cx="2697482" cy="54866"/>
          </a:xfrm>
          <a:prstGeom prst="rect">
            <a:avLst/>
          </a:prstGeom>
          <a:solidFill>
            <a:srgbClr val="1A6373"/>
          </a:solidFill>
          <a:ln w="12700">
            <a:miter lim="400000"/>
          </a:ln>
        </p:spPr>
        <p:txBody>
          <a:bodyPr lIns="45718" tIns="45718" rIns="45718" bIns="45718"/>
          <a:lstStyle/>
          <a:p>
            <a:pPr>
              <a:defRPr>
                <a:latin typeface="+mj-lt"/>
                <a:ea typeface="+mj-ea"/>
                <a:cs typeface="+mj-cs"/>
                <a:sym typeface="Calibri"/>
              </a:defRPr>
            </a:pPr>
          </a:p>
        </p:txBody>
      </p:sp>
      <p:sp>
        <p:nvSpPr>
          <p:cNvPr id="106" name="Text 17"/>
          <p:cNvSpPr txBox="1"/>
          <p:nvPr/>
        </p:nvSpPr>
        <p:spPr>
          <a:xfrm>
            <a:off x="6217920" y="1462022"/>
            <a:ext cx="269748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52A36"/>
                </a:solidFill>
                <a:latin typeface="Georgia"/>
                <a:ea typeface="Georgia"/>
                <a:cs typeface="Georgia"/>
                <a:sym typeface="Georgia"/>
              </a:defRPr>
            </a:lvl1pPr>
          </a:lstStyle>
          <a:p>
            <a:pPr/>
            <a:r>
              <a:t>ResNet50</a:t>
            </a:r>
          </a:p>
        </p:txBody>
      </p:sp>
      <p:sp>
        <p:nvSpPr>
          <p:cNvPr id="107" name="Text 18"/>
          <p:cNvSpPr txBox="1"/>
          <p:nvPr/>
        </p:nvSpPr>
        <p:spPr>
          <a:xfrm>
            <a:off x="6309359" y="1724419"/>
            <a:ext cx="2514602" cy="42821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15000"/>
              </a:lnSpc>
              <a:defRPr sz="900">
                <a:solidFill>
                  <a:srgbClr val="7A9DAD"/>
                </a:solidFill>
                <a:latin typeface="+mj-lt"/>
                <a:ea typeface="+mj-ea"/>
                <a:cs typeface="+mj-cs"/>
                <a:sym typeface="Calibri"/>
              </a:defRPr>
            </a:pPr>
            <a:r>
              <a:t>~23.6M params</a:t>
            </a:r>
          </a:p>
          <a:p>
            <a:pPr algn="ctr">
              <a:lnSpc>
                <a:spcPct val="115000"/>
              </a:lnSpc>
              <a:defRPr sz="900">
                <a:solidFill>
                  <a:srgbClr val="7A9DAD"/>
                </a:solidFill>
                <a:latin typeface="+mj-lt"/>
                <a:ea typeface="+mj-ea"/>
                <a:cs typeface="+mj-cs"/>
                <a:sym typeface="Calibri"/>
              </a:defRPr>
            </a:pPr>
            <a:r>
              <a:t>Transfer learning (frozen)</a:t>
            </a:r>
          </a:p>
          <a:p>
            <a:pPr algn="ctr">
              <a:lnSpc>
                <a:spcPct val="115000"/>
              </a:lnSpc>
              <a:defRPr sz="900">
                <a:solidFill>
                  <a:srgbClr val="7A9DAD"/>
                </a:solidFill>
                <a:latin typeface="+mj-lt"/>
                <a:ea typeface="+mj-ea"/>
                <a:cs typeface="+mj-cs"/>
                <a:sym typeface="Calibri"/>
              </a:defRPr>
            </a:pPr>
            <a:r>
              <a:t>32→96×96 upscaled</a:t>
            </a:r>
          </a:p>
        </p:txBody>
      </p:sp>
      <p:pic>
        <p:nvPicPr>
          <p:cNvPr id="108" name="Screenshot 2026-03-27 at 11.19.57.png" descr="Screenshot 2026-03-27 at 11.19.57.png"/>
          <p:cNvPicPr>
            <a:picLocks noChangeAspect="1"/>
          </p:cNvPicPr>
          <p:nvPr/>
        </p:nvPicPr>
        <p:blipFill>
          <a:blip r:embed="rId2">
            <a:extLst/>
          </a:blip>
          <a:stretch>
            <a:fillRect/>
          </a:stretch>
        </p:blipFill>
        <p:spPr>
          <a:xfrm>
            <a:off x="703571" y="2211832"/>
            <a:ext cx="2204737" cy="2758805"/>
          </a:xfrm>
          <a:prstGeom prst="rect">
            <a:avLst/>
          </a:prstGeom>
          <a:ln w="12700">
            <a:miter lim="400000"/>
          </a:ln>
        </p:spPr>
      </p:pic>
      <p:pic>
        <p:nvPicPr>
          <p:cNvPr id="109" name="Screenshot 2026-03-27 at 11.20.24.png" descr="Screenshot 2026-03-27 at 11.20.24.png"/>
          <p:cNvPicPr>
            <a:picLocks noChangeAspect="1"/>
          </p:cNvPicPr>
          <p:nvPr/>
        </p:nvPicPr>
        <p:blipFill>
          <a:blip r:embed="rId3">
            <a:extLst/>
          </a:blip>
          <a:stretch>
            <a:fillRect/>
          </a:stretch>
        </p:blipFill>
        <p:spPr>
          <a:xfrm>
            <a:off x="3583932" y="2840504"/>
            <a:ext cx="2204736" cy="1125455"/>
          </a:xfrm>
          <a:prstGeom prst="rect">
            <a:avLst/>
          </a:prstGeom>
          <a:ln w="12700">
            <a:miter lim="400000"/>
          </a:ln>
        </p:spPr>
      </p:pic>
      <p:pic>
        <p:nvPicPr>
          <p:cNvPr id="110" name="Screenshot 2026-03-27 at 11.20.54.png" descr="Screenshot 2026-03-27 at 11.20.54.png"/>
          <p:cNvPicPr>
            <a:picLocks noChangeAspect="1"/>
          </p:cNvPicPr>
          <p:nvPr/>
        </p:nvPicPr>
        <p:blipFill>
          <a:blip r:embed="rId4">
            <a:extLst/>
          </a:blip>
          <a:stretch>
            <a:fillRect/>
          </a:stretch>
        </p:blipFill>
        <p:spPr>
          <a:xfrm>
            <a:off x="6464291" y="2384550"/>
            <a:ext cx="2204737" cy="203736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113" name="Text 1"/>
          <p:cNvSpPr txBox="1"/>
          <p:nvPr/>
        </p:nvSpPr>
        <p:spPr>
          <a:xfrm>
            <a:off x="640080" y="349249"/>
            <a:ext cx="731520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Training Progression: Accuracy</a:t>
            </a:r>
          </a:p>
        </p:txBody>
      </p:sp>
      <p:sp>
        <p:nvSpPr>
          <p:cNvPr id="114" name="Text 2"/>
          <p:cNvSpPr txBox="1"/>
          <p:nvPr/>
        </p:nvSpPr>
        <p:spPr>
          <a:xfrm>
            <a:off x="640079" y="904547"/>
            <a:ext cx="786384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Validation accuracy over training epochs — all models use EarlyStopping and ReduceLROnPlateau callbacks.</a:t>
            </a:r>
          </a:p>
        </p:txBody>
      </p:sp>
      <p:sp>
        <p:nvSpPr>
          <p:cNvPr id="115" name="Text 3"/>
          <p:cNvSpPr txBox="1"/>
          <p:nvPr/>
        </p:nvSpPr>
        <p:spPr>
          <a:xfrm>
            <a:off x="457198" y="1381182"/>
            <a:ext cx="2697483"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1A6373"/>
                </a:solidFill>
                <a:latin typeface="+mj-lt"/>
                <a:ea typeface="+mj-ea"/>
                <a:cs typeface="+mj-cs"/>
                <a:sym typeface="Calibri"/>
              </a:defRPr>
            </a:lvl1pPr>
          </a:lstStyle>
          <a:p>
            <a:pPr/>
            <a:r>
              <a:t>Custom CNN</a:t>
            </a:r>
          </a:p>
        </p:txBody>
      </p:sp>
      <p:sp>
        <p:nvSpPr>
          <p:cNvPr id="116" name="Text 6"/>
          <p:cNvSpPr txBox="1"/>
          <p:nvPr/>
        </p:nvSpPr>
        <p:spPr>
          <a:xfrm>
            <a:off x="3337559" y="1381182"/>
            <a:ext cx="269748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1A6373"/>
                </a:solidFill>
                <a:latin typeface="+mj-lt"/>
                <a:ea typeface="+mj-ea"/>
                <a:cs typeface="+mj-cs"/>
                <a:sym typeface="Calibri"/>
              </a:defRPr>
            </a:lvl1pPr>
          </a:lstStyle>
          <a:p>
            <a:pPr/>
            <a:r>
              <a:t>MobileNetV2</a:t>
            </a:r>
          </a:p>
        </p:txBody>
      </p:sp>
      <p:sp>
        <p:nvSpPr>
          <p:cNvPr id="117" name="Text 9"/>
          <p:cNvSpPr txBox="1"/>
          <p:nvPr/>
        </p:nvSpPr>
        <p:spPr>
          <a:xfrm>
            <a:off x="6217920" y="1381182"/>
            <a:ext cx="269748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1A6373"/>
                </a:solidFill>
                <a:latin typeface="+mj-lt"/>
                <a:ea typeface="+mj-ea"/>
                <a:cs typeface="+mj-cs"/>
                <a:sym typeface="Calibri"/>
              </a:defRPr>
            </a:lvl1pPr>
          </a:lstStyle>
          <a:p>
            <a:pPr/>
            <a:r>
              <a:t>ResNet50</a:t>
            </a:r>
          </a:p>
        </p:txBody>
      </p:sp>
      <p:sp>
        <p:nvSpPr>
          <p:cNvPr id="118" name="Text 12"/>
          <p:cNvSpPr txBox="1"/>
          <p:nvPr/>
        </p:nvSpPr>
        <p:spPr>
          <a:xfrm>
            <a:off x="640079" y="4358815"/>
            <a:ext cx="7863841"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7A9DAD"/>
                </a:solidFill>
                <a:latin typeface="+mj-lt"/>
                <a:ea typeface="+mj-ea"/>
                <a:cs typeface="+mj-cs"/>
                <a:sym typeface="Calibri"/>
              </a:defRPr>
            </a:lvl1pPr>
          </a:lstStyle>
          <a:p>
            <a:pPr/>
            <a:r>
              <a:t>All three models converge within ~20–40 epochs. ResNet50 shows the smoothest learning curve, while the custom CNN exhibits more variance. However, we can see that the Transfer Learning models tend to overfit, with minimal accuracy improvement on the validation set.</a:t>
            </a:r>
          </a:p>
        </p:txBody>
      </p:sp>
      <p:pic>
        <p:nvPicPr>
          <p:cNvPr id="119" name="Screenshot 2026-03-27 at 11.33.58.png" descr="Screenshot 2026-03-27 at 11.33.58.png"/>
          <p:cNvPicPr>
            <a:picLocks noChangeAspect="1"/>
          </p:cNvPicPr>
          <p:nvPr/>
        </p:nvPicPr>
        <p:blipFill>
          <a:blip r:embed="rId2">
            <a:extLst/>
          </a:blip>
          <a:stretch>
            <a:fillRect/>
          </a:stretch>
        </p:blipFill>
        <p:spPr>
          <a:xfrm>
            <a:off x="412160" y="1842315"/>
            <a:ext cx="2685961" cy="1879045"/>
          </a:xfrm>
          <a:prstGeom prst="rect">
            <a:avLst/>
          </a:prstGeom>
          <a:ln w="12700">
            <a:miter lim="400000"/>
          </a:ln>
        </p:spPr>
      </p:pic>
      <p:pic>
        <p:nvPicPr>
          <p:cNvPr id="120" name="Screenshot 2026-03-27 at 11.34.16.png" descr="Screenshot 2026-03-27 at 11.34.16.png"/>
          <p:cNvPicPr>
            <a:picLocks noChangeAspect="1"/>
          </p:cNvPicPr>
          <p:nvPr/>
        </p:nvPicPr>
        <p:blipFill>
          <a:blip r:embed="rId3">
            <a:extLst/>
          </a:blip>
          <a:stretch>
            <a:fillRect/>
          </a:stretch>
        </p:blipFill>
        <p:spPr>
          <a:xfrm>
            <a:off x="3292123" y="1842315"/>
            <a:ext cx="2686753" cy="1879045"/>
          </a:xfrm>
          <a:prstGeom prst="rect">
            <a:avLst/>
          </a:prstGeom>
          <a:ln w="12700">
            <a:miter lim="400000"/>
          </a:ln>
        </p:spPr>
      </p:pic>
      <p:pic>
        <p:nvPicPr>
          <p:cNvPr id="121" name="Screenshot 2026-03-27 at 11.34.52.png" descr="Screenshot 2026-03-27 at 11.34.52.png"/>
          <p:cNvPicPr>
            <a:picLocks noChangeAspect="1"/>
          </p:cNvPicPr>
          <p:nvPr/>
        </p:nvPicPr>
        <p:blipFill>
          <a:blip r:embed="rId4">
            <a:extLst/>
          </a:blip>
          <a:stretch>
            <a:fillRect/>
          </a:stretch>
        </p:blipFill>
        <p:spPr>
          <a:xfrm>
            <a:off x="6150309" y="1842315"/>
            <a:ext cx="2731104" cy="1879045"/>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4E8"/>
        </a:solidFill>
      </p:bgPr>
    </p:bg>
    <p:spTree>
      <p:nvGrpSpPr>
        <p:cNvPr id="1" name=""/>
        <p:cNvGrpSpPr/>
        <p:nvPr/>
      </p:nvGrpSpPr>
      <p:grpSpPr>
        <a:xfrm>
          <a:off x="0" y="0"/>
          <a:ext cx="0" cy="0"/>
          <a:chOff x="0" y="0"/>
          <a:chExt cx="0" cy="0"/>
        </a:xfrm>
      </p:grpSpPr>
      <p:sp>
        <p:nvSpPr>
          <p:cNvPr id="123"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124" name="Text 1"/>
          <p:cNvSpPr txBox="1"/>
          <p:nvPr/>
        </p:nvSpPr>
        <p:spPr>
          <a:xfrm>
            <a:off x="640080" y="349249"/>
            <a:ext cx="731520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Training Progression: Loss</a:t>
            </a:r>
          </a:p>
        </p:txBody>
      </p:sp>
      <p:sp>
        <p:nvSpPr>
          <p:cNvPr id="125" name="Text 2"/>
          <p:cNvSpPr txBox="1"/>
          <p:nvPr/>
        </p:nvSpPr>
        <p:spPr>
          <a:xfrm>
            <a:off x="640079" y="872797"/>
            <a:ext cx="7863841"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Training and validation loss curves — divergence between the two indicates overfitting tendency. TL models would probably need more regularization.</a:t>
            </a:r>
          </a:p>
        </p:txBody>
      </p:sp>
      <p:sp>
        <p:nvSpPr>
          <p:cNvPr id="126" name="Text 3"/>
          <p:cNvSpPr txBox="1"/>
          <p:nvPr/>
        </p:nvSpPr>
        <p:spPr>
          <a:xfrm>
            <a:off x="457198" y="1419282"/>
            <a:ext cx="2697483"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1A6373"/>
                </a:solidFill>
                <a:latin typeface="+mj-lt"/>
                <a:ea typeface="+mj-ea"/>
                <a:cs typeface="+mj-cs"/>
                <a:sym typeface="Calibri"/>
              </a:defRPr>
            </a:lvl1pPr>
          </a:lstStyle>
          <a:p>
            <a:pPr/>
            <a:r>
              <a:t>Custom CNN</a:t>
            </a:r>
          </a:p>
        </p:txBody>
      </p:sp>
      <p:sp>
        <p:nvSpPr>
          <p:cNvPr id="127" name="Text 6"/>
          <p:cNvSpPr txBox="1"/>
          <p:nvPr/>
        </p:nvSpPr>
        <p:spPr>
          <a:xfrm>
            <a:off x="3337559" y="1419282"/>
            <a:ext cx="269748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1A6373"/>
                </a:solidFill>
                <a:latin typeface="+mj-lt"/>
                <a:ea typeface="+mj-ea"/>
                <a:cs typeface="+mj-cs"/>
                <a:sym typeface="Calibri"/>
              </a:defRPr>
            </a:lvl1pPr>
          </a:lstStyle>
          <a:p>
            <a:pPr/>
            <a:r>
              <a:t>MobileNetV2</a:t>
            </a:r>
          </a:p>
        </p:txBody>
      </p:sp>
      <p:sp>
        <p:nvSpPr>
          <p:cNvPr id="128" name="Text 9"/>
          <p:cNvSpPr txBox="1"/>
          <p:nvPr/>
        </p:nvSpPr>
        <p:spPr>
          <a:xfrm>
            <a:off x="6217920" y="1419282"/>
            <a:ext cx="269748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1A6373"/>
                </a:solidFill>
                <a:latin typeface="+mj-lt"/>
                <a:ea typeface="+mj-ea"/>
                <a:cs typeface="+mj-cs"/>
                <a:sym typeface="Calibri"/>
              </a:defRPr>
            </a:lvl1pPr>
          </a:lstStyle>
          <a:p>
            <a:pPr/>
            <a:r>
              <a:t>ResNet50</a:t>
            </a:r>
          </a:p>
        </p:txBody>
      </p:sp>
      <p:sp>
        <p:nvSpPr>
          <p:cNvPr id="129" name="Text 12"/>
          <p:cNvSpPr txBox="1"/>
          <p:nvPr/>
        </p:nvSpPr>
        <p:spPr>
          <a:xfrm>
            <a:off x="640079" y="4504865"/>
            <a:ext cx="78638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7A9DAD"/>
                </a:solidFill>
                <a:latin typeface="+mj-lt"/>
                <a:ea typeface="+mj-ea"/>
                <a:cs typeface="+mj-cs"/>
                <a:sym typeface="Calibri"/>
              </a:defRPr>
            </a:lvl1pPr>
          </a:lstStyle>
          <a:p>
            <a:pPr/>
            <a:r>
              <a:t>ReduceLROnPlateau effectively smooths the loss descent. EarlyStopping prevents unnecessary epochs beyond convergence.</a:t>
            </a:r>
          </a:p>
        </p:txBody>
      </p:sp>
      <p:pic>
        <p:nvPicPr>
          <p:cNvPr id="130" name="Screenshot 2026-03-27 at 11.39.01.png" descr="Screenshot 2026-03-27 at 11.39.01.png"/>
          <p:cNvPicPr>
            <a:picLocks noChangeAspect="1"/>
          </p:cNvPicPr>
          <p:nvPr/>
        </p:nvPicPr>
        <p:blipFill>
          <a:blip r:embed="rId2">
            <a:extLst/>
          </a:blip>
          <a:stretch>
            <a:fillRect/>
          </a:stretch>
        </p:blipFill>
        <p:spPr>
          <a:xfrm>
            <a:off x="403327" y="1870767"/>
            <a:ext cx="2703627" cy="1861881"/>
          </a:xfrm>
          <a:prstGeom prst="rect">
            <a:avLst/>
          </a:prstGeom>
          <a:ln w="12700">
            <a:miter lim="400000"/>
          </a:ln>
        </p:spPr>
      </p:pic>
      <p:pic>
        <p:nvPicPr>
          <p:cNvPr id="131" name="Screenshot 2026-03-27 at 11.39.15.png" descr="Screenshot 2026-03-27 at 11.39.15.png"/>
          <p:cNvPicPr>
            <a:picLocks noChangeAspect="1"/>
          </p:cNvPicPr>
          <p:nvPr/>
        </p:nvPicPr>
        <p:blipFill>
          <a:blip r:embed="rId3">
            <a:extLst/>
          </a:blip>
          <a:stretch>
            <a:fillRect/>
          </a:stretch>
        </p:blipFill>
        <p:spPr>
          <a:xfrm>
            <a:off x="3300410" y="1870767"/>
            <a:ext cx="2670181" cy="1861881"/>
          </a:xfrm>
          <a:prstGeom prst="rect">
            <a:avLst/>
          </a:prstGeom>
          <a:ln w="12700">
            <a:miter lim="400000"/>
          </a:ln>
        </p:spPr>
      </p:pic>
      <p:pic>
        <p:nvPicPr>
          <p:cNvPr id="132" name="Screenshot 2026-03-27 at 11.39.30.png" descr="Screenshot 2026-03-27 at 11.39.30.png"/>
          <p:cNvPicPr>
            <a:picLocks noChangeAspect="1"/>
          </p:cNvPicPr>
          <p:nvPr/>
        </p:nvPicPr>
        <p:blipFill>
          <a:blip r:embed="rId4">
            <a:extLst/>
          </a:blip>
          <a:stretch>
            <a:fillRect/>
          </a:stretch>
        </p:blipFill>
        <p:spPr>
          <a:xfrm>
            <a:off x="6167120" y="1870767"/>
            <a:ext cx="2697482" cy="1861881"/>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135" name="Text 1"/>
          <p:cNvSpPr txBox="1"/>
          <p:nvPr/>
        </p:nvSpPr>
        <p:spPr>
          <a:xfrm>
            <a:off x="640079" y="349249"/>
            <a:ext cx="548640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Confusion Matrices</a:t>
            </a:r>
          </a:p>
        </p:txBody>
      </p:sp>
      <p:sp>
        <p:nvSpPr>
          <p:cNvPr id="136" name="Text 2"/>
          <p:cNvSpPr txBox="1"/>
          <p:nvPr/>
        </p:nvSpPr>
        <p:spPr>
          <a:xfrm>
            <a:off x="640079" y="904547"/>
            <a:ext cx="786384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Test set predictions — diagonal dominance shows correct classifications. Off-diagonal entries reveal class confusion patterns.</a:t>
            </a:r>
          </a:p>
        </p:txBody>
      </p:sp>
      <p:sp>
        <p:nvSpPr>
          <p:cNvPr id="137" name="Text 3"/>
          <p:cNvSpPr txBox="1"/>
          <p:nvPr/>
        </p:nvSpPr>
        <p:spPr>
          <a:xfrm>
            <a:off x="784808" y="1172209"/>
            <a:ext cx="12968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1A6373"/>
                </a:solidFill>
                <a:latin typeface="+mj-lt"/>
                <a:ea typeface="+mj-ea"/>
                <a:cs typeface="+mj-cs"/>
                <a:sym typeface="Calibri"/>
              </a:defRPr>
            </a:lvl1pPr>
          </a:lstStyle>
          <a:p>
            <a:pPr/>
            <a:r>
              <a:t>Custom CNN</a:t>
            </a:r>
          </a:p>
        </p:txBody>
      </p:sp>
      <p:sp>
        <p:nvSpPr>
          <p:cNvPr id="138" name="Text 12"/>
          <p:cNvSpPr txBox="1"/>
          <p:nvPr/>
        </p:nvSpPr>
        <p:spPr>
          <a:xfrm>
            <a:off x="640079" y="4847765"/>
            <a:ext cx="78638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7A9DAD"/>
                </a:solidFill>
                <a:latin typeface="+mj-lt"/>
                <a:ea typeface="+mj-ea"/>
                <a:cs typeface="+mj-cs"/>
                <a:sym typeface="Calibri"/>
              </a:defRPr>
            </a:lvl1pPr>
          </a:lstStyle>
          <a:p>
            <a:pPr/>
            <a:r>
              <a:t>Common misclassifications across all models: cat ↔ dog, automobile ↔ truck — visually similar classes at 32×32 resolution.</a:t>
            </a:r>
          </a:p>
        </p:txBody>
      </p:sp>
      <p:pic>
        <p:nvPicPr>
          <p:cNvPr id="139" name="Screenshot 2026-03-27 at 11.43.45.png" descr="Screenshot 2026-03-27 at 11.43.45.png"/>
          <p:cNvPicPr>
            <a:picLocks noChangeAspect="1"/>
          </p:cNvPicPr>
          <p:nvPr/>
        </p:nvPicPr>
        <p:blipFill>
          <a:blip r:embed="rId2">
            <a:extLst/>
          </a:blip>
          <a:stretch>
            <a:fillRect/>
          </a:stretch>
        </p:blipFill>
        <p:spPr>
          <a:xfrm>
            <a:off x="2489293" y="1172210"/>
            <a:ext cx="4165414" cy="3564760"/>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4E8"/>
        </a:solidFill>
      </p:bgPr>
    </p:bg>
    <p:spTree>
      <p:nvGrpSpPr>
        <p:cNvPr id="1" name=""/>
        <p:cNvGrpSpPr/>
        <p:nvPr/>
      </p:nvGrpSpPr>
      <p:grpSpPr>
        <a:xfrm>
          <a:off x="0" y="0"/>
          <a:ext cx="0" cy="0"/>
          <a:chOff x="0" y="0"/>
          <a:chExt cx="0" cy="0"/>
        </a:xfrm>
      </p:grpSpPr>
      <p:sp>
        <p:nvSpPr>
          <p:cNvPr id="141"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142" name="Text 1"/>
          <p:cNvSpPr txBox="1"/>
          <p:nvPr/>
        </p:nvSpPr>
        <p:spPr>
          <a:xfrm>
            <a:off x="640079" y="349249"/>
            <a:ext cx="548640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Confusion Matrices</a:t>
            </a:r>
          </a:p>
        </p:txBody>
      </p:sp>
      <p:sp>
        <p:nvSpPr>
          <p:cNvPr id="143" name="Text 2"/>
          <p:cNvSpPr txBox="1"/>
          <p:nvPr/>
        </p:nvSpPr>
        <p:spPr>
          <a:xfrm>
            <a:off x="640079" y="904547"/>
            <a:ext cx="786384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Test set predictions — diagonal dominance shows correct classifications. Off-diagonal entries reveal class confusion patterns.</a:t>
            </a:r>
          </a:p>
        </p:txBody>
      </p:sp>
      <p:sp>
        <p:nvSpPr>
          <p:cNvPr id="144" name="Text 3"/>
          <p:cNvSpPr txBox="1"/>
          <p:nvPr/>
        </p:nvSpPr>
        <p:spPr>
          <a:xfrm>
            <a:off x="784808" y="1172209"/>
            <a:ext cx="12968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1A6373"/>
                </a:solidFill>
                <a:latin typeface="+mj-lt"/>
                <a:ea typeface="+mj-ea"/>
                <a:cs typeface="+mj-cs"/>
                <a:sym typeface="Calibri"/>
              </a:defRPr>
            </a:lvl1pPr>
          </a:lstStyle>
          <a:p>
            <a:pPr/>
            <a:r>
              <a:t>MobileNetV2</a:t>
            </a:r>
          </a:p>
        </p:txBody>
      </p:sp>
      <p:sp>
        <p:nvSpPr>
          <p:cNvPr id="145" name="Text 12"/>
          <p:cNvSpPr txBox="1"/>
          <p:nvPr/>
        </p:nvSpPr>
        <p:spPr>
          <a:xfrm>
            <a:off x="640079" y="4847765"/>
            <a:ext cx="78638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7A9DAD"/>
                </a:solidFill>
                <a:latin typeface="+mj-lt"/>
                <a:ea typeface="+mj-ea"/>
                <a:cs typeface="+mj-cs"/>
                <a:sym typeface="Calibri"/>
              </a:defRPr>
            </a:lvl1pPr>
          </a:lstStyle>
          <a:p>
            <a:pPr/>
            <a:r>
              <a:t>Common misclassifications across all models: cat ↔ dog, automobile ↔ truck — visually similar classes at 32×32 resolution.</a:t>
            </a:r>
          </a:p>
        </p:txBody>
      </p:sp>
      <p:pic>
        <p:nvPicPr>
          <p:cNvPr id="146" name="Screenshot 2026-03-27 at 11.46.35.png" descr="Screenshot 2026-03-27 at 11.46.35.png"/>
          <p:cNvPicPr>
            <a:picLocks noChangeAspect="1"/>
          </p:cNvPicPr>
          <p:nvPr/>
        </p:nvPicPr>
        <p:blipFill>
          <a:blip r:embed="rId2">
            <a:extLst/>
          </a:blip>
          <a:stretch>
            <a:fillRect/>
          </a:stretch>
        </p:blipFill>
        <p:spPr>
          <a:xfrm>
            <a:off x="2490896" y="1186125"/>
            <a:ext cx="4162208" cy="3525866"/>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149" name="Text 1"/>
          <p:cNvSpPr txBox="1"/>
          <p:nvPr/>
        </p:nvSpPr>
        <p:spPr>
          <a:xfrm>
            <a:off x="640079" y="349249"/>
            <a:ext cx="548640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Confusion Matrices</a:t>
            </a:r>
          </a:p>
        </p:txBody>
      </p:sp>
      <p:sp>
        <p:nvSpPr>
          <p:cNvPr id="150" name="Text 2"/>
          <p:cNvSpPr txBox="1"/>
          <p:nvPr/>
        </p:nvSpPr>
        <p:spPr>
          <a:xfrm>
            <a:off x="640079" y="904547"/>
            <a:ext cx="786384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Test set predictions — diagonal dominance shows correct classifications. Off-diagonal entries reveal class confusion patterns.</a:t>
            </a:r>
          </a:p>
        </p:txBody>
      </p:sp>
      <p:sp>
        <p:nvSpPr>
          <p:cNvPr id="151" name="Text 3"/>
          <p:cNvSpPr txBox="1"/>
          <p:nvPr/>
        </p:nvSpPr>
        <p:spPr>
          <a:xfrm>
            <a:off x="784808" y="1172209"/>
            <a:ext cx="12968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1A6373"/>
                </a:solidFill>
                <a:latin typeface="+mj-lt"/>
                <a:ea typeface="+mj-ea"/>
                <a:cs typeface="+mj-cs"/>
                <a:sym typeface="Calibri"/>
              </a:defRPr>
            </a:lvl1pPr>
          </a:lstStyle>
          <a:p>
            <a:pPr/>
            <a:r>
              <a:t>ResNet50</a:t>
            </a:r>
          </a:p>
        </p:txBody>
      </p:sp>
      <p:sp>
        <p:nvSpPr>
          <p:cNvPr id="152" name="Text 12"/>
          <p:cNvSpPr txBox="1"/>
          <p:nvPr/>
        </p:nvSpPr>
        <p:spPr>
          <a:xfrm>
            <a:off x="640079" y="4847765"/>
            <a:ext cx="78638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7A9DAD"/>
                </a:solidFill>
                <a:latin typeface="+mj-lt"/>
                <a:ea typeface="+mj-ea"/>
                <a:cs typeface="+mj-cs"/>
                <a:sym typeface="Calibri"/>
              </a:defRPr>
            </a:lvl1pPr>
          </a:lstStyle>
          <a:p>
            <a:pPr/>
            <a:r>
              <a:t>Common misclassifications across all models: cat ↔ dog, automobile ↔ truck — visually similar classes at 32×32 resolution.</a:t>
            </a:r>
          </a:p>
        </p:txBody>
      </p:sp>
      <p:pic>
        <p:nvPicPr>
          <p:cNvPr id="153" name="Screenshot 2026-03-27 at 11.47.44.png" descr="Screenshot 2026-03-27 at 11.47.44.png"/>
          <p:cNvPicPr>
            <a:picLocks noChangeAspect="1"/>
          </p:cNvPicPr>
          <p:nvPr/>
        </p:nvPicPr>
        <p:blipFill>
          <a:blip r:embed="rId2">
            <a:extLst/>
          </a:blip>
          <a:stretch>
            <a:fillRect/>
          </a:stretch>
        </p:blipFill>
        <p:spPr>
          <a:xfrm>
            <a:off x="2484351" y="1138936"/>
            <a:ext cx="4175298" cy="356476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4E8"/>
        </a:solidFill>
      </p:bgPr>
    </p:bg>
    <p:spTree>
      <p:nvGrpSpPr>
        <p:cNvPr id="1" name=""/>
        <p:cNvGrpSpPr/>
        <p:nvPr/>
      </p:nvGrpSpPr>
      <p:grpSpPr>
        <a:xfrm>
          <a:off x="0" y="0"/>
          <a:ext cx="0" cy="0"/>
          <a:chOff x="0" y="0"/>
          <a:chExt cx="0" cy="0"/>
        </a:xfrm>
      </p:grpSpPr>
      <p:sp>
        <p:nvSpPr>
          <p:cNvPr id="155"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156" name="Text 1"/>
          <p:cNvSpPr txBox="1"/>
          <p:nvPr/>
        </p:nvSpPr>
        <p:spPr>
          <a:xfrm>
            <a:off x="640080" y="349249"/>
            <a:ext cx="731520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Model Comparison: Metrics</a:t>
            </a:r>
          </a:p>
        </p:txBody>
      </p:sp>
      <p:sp>
        <p:nvSpPr>
          <p:cNvPr id="157" name="Text 2"/>
          <p:cNvSpPr txBox="1"/>
          <p:nvPr/>
        </p:nvSpPr>
        <p:spPr>
          <a:xfrm>
            <a:off x="640079" y="904547"/>
            <a:ext cx="786384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B5A6A"/>
                </a:solidFill>
                <a:latin typeface="+mj-lt"/>
                <a:ea typeface="+mj-ea"/>
                <a:cs typeface="+mj-cs"/>
                <a:sym typeface="Calibri"/>
              </a:defRPr>
            </a:lvl1pPr>
          </a:lstStyle>
          <a:p>
            <a:pPr/>
            <a:r>
              <a:t>Side-by-side performance on the held-out test set — accuracy, precision, recall, and F1-score (macro-averaged).</a:t>
            </a:r>
          </a:p>
        </p:txBody>
      </p:sp>
      <p:pic>
        <p:nvPicPr>
          <p:cNvPr id="158" name="Screenshot 2026-03-27 at 11.56.13.png" descr="Screenshot 2026-03-27 at 11.56.13.png"/>
          <p:cNvPicPr>
            <a:picLocks noChangeAspect="1"/>
          </p:cNvPicPr>
          <p:nvPr/>
        </p:nvPicPr>
        <p:blipFill>
          <a:blip r:embed="rId2">
            <a:extLst/>
          </a:blip>
          <a:stretch>
            <a:fillRect/>
          </a:stretch>
        </p:blipFill>
        <p:spPr>
          <a:xfrm>
            <a:off x="2476500" y="1248482"/>
            <a:ext cx="4191002" cy="1016001"/>
          </a:xfrm>
          <a:prstGeom prst="rect">
            <a:avLst/>
          </a:prstGeom>
          <a:ln w="12700">
            <a:miter lim="400000"/>
          </a:ln>
        </p:spPr>
      </p:pic>
      <p:pic>
        <p:nvPicPr>
          <p:cNvPr id="159" name="Screenshot 2026-03-27 at 11.56.36.png" descr="Screenshot 2026-03-27 at 11.56.36.png"/>
          <p:cNvPicPr>
            <a:picLocks noChangeAspect="1"/>
          </p:cNvPicPr>
          <p:nvPr/>
        </p:nvPicPr>
        <p:blipFill>
          <a:blip r:embed="rId3">
            <a:extLst/>
          </a:blip>
          <a:stretch>
            <a:fillRect/>
          </a:stretch>
        </p:blipFill>
        <p:spPr>
          <a:xfrm>
            <a:off x="70114" y="2451551"/>
            <a:ext cx="9003771" cy="2476234"/>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162" name="Text 1"/>
          <p:cNvSpPr txBox="1"/>
          <p:nvPr/>
        </p:nvSpPr>
        <p:spPr>
          <a:xfrm>
            <a:off x="640079" y="349249"/>
            <a:ext cx="548640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Comparison Analysis</a:t>
            </a:r>
          </a:p>
        </p:txBody>
      </p:sp>
      <p:sp>
        <p:nvSpPr>
          <p:cNvPr id="163" name="Shape 3"/>
          <p:cNvSpPr/>
          <p:nvPr/>
        </p:nvSpPr>
        <p:spPr>
          <a:xfrm>
            <a:off x="640080" y="1051560"/>
            <a:ext cx="73154" cy="1097282"/>
          </a:xfrm>
          <a:prstGeom prst="rect">
            <a:avLst/>
          </a:prstGeom>
          <a:solidFill>
            <a:srgbClr val="E0885E"/>
          </a:solidFill>
          <a:ln w="12700">
            <a:miter lim="400000"/>
          </a:ln>
        </p:spPr>
        <p:txBody>
          <a:bodyPr lIns="45718" tIns="45718" rIns="45718" bIns="45718"/>
          <a:lstStyle/>
          <a:p>
            <a:pPr>
              <a:defRPr>
                <a:latin typeface="+mj-lt"/>
                <a:ea typeface="+mj-ea"/>
                <a:cs typeface="+mj-cs"/>
                <a:sym typeface="Calibri"/>
              </a:defRPr>
            </a:pPr>
          </a:p>
        </p:txBody>
      </p:sp>
      <p:sp>
        <p:nvSpPr>
          <p:cNvPr id="164" name="Text 4"/>
          <p:cNvSpPr txBox="1"/>
          <p:nvPr/>
        </p:nvSpPr>
        <p:spPr>
          <a:xfrm>
            <a:off x="960119" y="1186941"/>
            <a:ext cx="7315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52A36"/>
                </a:solidFill>
                <a:latin typeface="Georgia"/>
                <a:ea typeface="Georgia"/>
                <a:cs typeface="Georgia"/>
                <a:sym typeface="Georgia"/>
              </a:defRPr>
            </a:lvl1pPr>
          </a:lstStyle>
          <a:p>
            <a:pPr/>
            <a:r>
              <a:t>Custom CNN</a:t>
            </a:r>
          </a:p>
        </p:txBody>
      </p:sp>
      <p:sp>
        <p:nvSpPr>
          <p:cNvPr id="165" name="Text 5"/>
          <p:cNvSpPr txBox="1"/>
          <p:nvPr/>
        </p:nvSpPr>
        <p:spPr>
          <a:xfrm>
            <a:off x="960119" y="1585866"/>
            <a:ext cx="7315201" cy="394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200">
                <a:solidFill>
                  <a:srgbClr val="3B5A6A"/>
                </a:solidFill>
                <a:latin typeface="+mj-lt"/>
                <a:ea typeface="+mj-ea"/>
                <a:cs typeface="+mj-cs"/>
                <a:sym typeface="Calibri"/>
              </a:defRPr>
            </a:lvl1pPr>
          </a:lstStyle>
          <a:p>
            <a:pPr/>
            <a:r>
              <a:t>Fastest to train. Achieves solid performance but requires significant architectural tuning. Best suited when resources are limited.</a:t>
            </a:r>
          </a:p>
        </p:txBody>
      </p:sp>
      <p:sp>
        <p:nvSpPr>
          <p:cNvPr id="166" name="Shape 7"/>
          <p:cNvSpPr/>
          <p:nvPr/>
        </p:nvSpPr>
        <p:spPr>
          <a:xfrm>
            <a:off x="640080" y="2331720"/>
            <a:ext cx="73154" cy="1097282"/>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167" name="Text 8"/>
          <p:cNvSpPr txBox="1"/>
          <p:nvPr/>
        </p:nvSpPr>
        <p:spPr>
          <a:xfrm>
            <a:off x="960119" y="2467102"/>
            <a:ext cx="7315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52A36"/>
                </a:solidFill>
                <a:latin typeface="Georgia"/>
                <a:ea typeface="Georgia"/>
                <a:cs typeface="Georgia"/>
                <a:sym typeface="Georgia"/>
              </a:defRPr>
            </a:lvl1pPr>
          </a:lstStyle>
          <a:p>
            <a:pPr/>
            <a:r>
              <a:t>MobileNetV2</a:t>
            </a:r>
          </a:p>
        </p:txBody>
      </p:sp>
      <p:sp>
        <p:nvSpPr>
          <p:cNvPr id="168" name="Text 9"/>
          <p:cNvSpPr txBox="1"/>
          <p:nvPr/>
        </p:nvSpPr>
        <p:spPr>
          <a:xfrm>
            <a:off x="960119" y="2866028"/>
            <a:ext cx="7315201" cy="3944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200">
                <a:solidFill>
                  <a:srgbClr val="3B5A6A"/>
                </a:solidFill>
                <a:latin typeface="+mj-lt"/>
                <a:ea typeface="+mj-ea"/>
                <a:cs typeface="+mj-cs"/>
                <a:sym typeface="Calibri"/>
              </a:defRPr>
            </a:lvl1pPr>
          </a:lstStyle>
          <a:p>
            <a:pPr/>
            <a:r>
              <a:t>Best balance of performance and efficiency (~2.3M params). Smooth convergence with minimal tuning. Lightweight pretrained backbone ideal for this task.</a:t>
            </a:r>
          </a:p>
        </p:txBody>
      </p:sp>
      <p:sp>
        <p:nvSpPr>
          <p:cNvPr id="169" name="Shape 11"/>
          <p:cNvSpPr/>
          <p:nvPr/>
        </p:nvSpPr>
        <p:spPr>
          <a:xfrm>
            <a:off x="640080" y="3611879"/>
            <a:ext cx="73154" cy="1097282"/>
          </a:xfrm>
          <a:prstGeom prst="rect">
            <a:avLst/>
          </a:prstGeom>
          <a:solidFill>
            <a:srgbClr val="1A6373"/>
          </a:solidFill>
          <a:ln w="12700">
            <a:miter lim="400000"/>
          </a:ln>
        </p:spPr>
        <p:txBody>
          <a:bodyPr lIns="45718" tIns="45718" rIns="45718" bIns="45718"/>
          <a:lstStyle/>
          <a:p>
            <a:pPr>
              <a:defRPr>
                <a:latin typeface="+mj-lt"/>
                <a:ea typeface="+mj-ea"/>
                <a:cs typeface="+mj-cs"/>
                <a:sym typeface="Calibri"/>
              </a:defRPr>
            </a:pPr>
          </a:p>
        </p:txBody>
      </p:sp>
      <p:sp>
        <p:nvSpPr>
          <p:cNvPr id="170" name="Text 12"/>
          <p:cNvSpPr txBox="1"/>
          <p:nvPr/>
        </p:nvSpPr>
        <p:spPr>
          <a:xfrm>
            <a:off x="960119" y="3747260"/>
            <a:ext cx="7315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52A36"/>
                </a:solidFill>
                <a:latin typeface="Georgia"/>
                <a:ea typeface="Georgia"/>
                <a:cs typeface="Georgia"/>
                <a:sym typeface="Georgia"/>
              </a:defRPr>
            </a:lvl1pPr>
          </a:lstStyle>
          <a:p>
            <a:pPr/>
            <a:r>
              <a:t>ResNet50</a:t>
            </a:r>
          </a:p>
        </p:txBody>
      </p:sp>
      <p:sp>
        <p:nvSpPr>
          <p:cNvPr id="171" name="Text 13"/>
          <p:cNvSpPr txBox="1"/>
          <p:nvPr/>
        </p:nvSpPr>
        <p:spPr>
          <a:xfrm>
            <a:off x="960119" y="4146187"/>
            <a:ext cx="7315201" cy="3944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200">
                <a:solidFill>
                  <a:srgbClr val="3B5A6A"/>
                </a:solidFill>
                <a:latin typeface="+mj-lt"/>
                <a:ea typeface="+mj-ea"/>
                <a:cs typeface="+mj-cs"/>
                <a:sym typeface="Calibri"/>
              </a:defRPr>
            </a:lvl1pPr>
          </a:lstStyle>
          <a:p>
            <a:pPr/>
            <a:r>
              <a:t>Heaviest model (~23.6M params), longest training time (~2x). Delivers the strongest results, but requires upscaling (32→96). Best when compute is not a constraint.</a:t>
            </a:r>
          </a:p>
        </p:txBody>
      </p:sp>
      <p:sp>
        <p:nvSpPr>
          <p:cNvPr id="172" name="Shape 15"/>
          <p:cNvSpPr/>
          <p:nvPr/>
        </p:nvSpPr>
        <p:spPr>
          <a:xfrm>
            <a:off x="-1828800" y="4663440"/>
            <a:ext cx="12801600" cy="2011683"/>
          </a:xfrm>
          <a:prstGeom prst="ellipse">
            <a:avLst/>
          </a:prstGeom>
          <a:solidFill>
            <a:srgbClr val="E8CFA0">
              <a:alpha val="88000"/>
            </a:srgbClr>
          </a:solidFill>
          <a:ln w="12700">
            <a:miter lim="400000"/>
          </a:ln>
        </p:spPr>
        <p:txBody>
          <a:bodyPr lIns="45718" tIns="45718" rIns="45718" bIns="45718"/>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BF4E8"/>
        </a:solidFill>
      </p:bgPr>
    </p:bg>
    <p:spTree>
      <p:nvGrpSpPr>
        <p:cNvPr id="1" name=""/>
        <p:cNvGrpSpPr/>
        <p:nvPr/>
      </p:nvGrpSpPr>
      <p:grpSpPr>
        <a:xfrm>
          <a:off x="0" y="0"/>
          <a:ext cx="0" cy="0"/>
          <a:chOff x="0" y="0"/>
          <a:chExt cx="0" cy="0"/>
        </a:xfrm>
      </p:grpSpPr>
      <p:sp>
        <p:nvSpPr>
          <p:cNvPr id="174"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pic>
        <p:nvPicPr>
          <p:cNvPr id="175" name="Image 0" descr="Image 0"/>
          <p:cNvPicPr>
            <a:picLocks noChangeAspect="1"/>
          </p:cNvPicPr>
          <p:nvPr/>
        </p:nvPicPr>
        <p:blipFill>
          <a:blip r:embed="rId2">
            <a:extLst/>
          </a:blip>
          <a:stretch>
            <a:fillRect/>
          </a:stretch>
        </p:blipFill>
        <p:spPr>
          <a:xfrm>
            <a:off x="640080" y="301752"/>
            <a:ext cx="384050" cy="384048"/>
          </a:xfrm>
          <a:prstGeom prst="rect">
            <a:avLst/>
          </a:prstGeom>
          <a:ln w="12700">
            <a:miter lim="400000"/>
          </a:ln>
        </p:spPr>
      </p:pic>
      <p:sp>
        <p:nvSpPr>
          <p:cNvPr id="176" name="Text 1"/>
          <p:cNvSpPr txBox="1"/>
          <p:nvPr/>
        </p:nvSpPr>
        <p:spPr>
          <a:xfrm>
            <a:off x="1143000" y="349249"/>
            <a:ext cx="5486400"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Key Findings</a:t>
            </a:r>
          </a:p>
        </p:txBody>
      </p:sp>
      <p:sp>
        <p:nvSpPr>
          <p:cNvPr id="177" name="Text 3"/>
          <p:cNvSpPr txBox="1"/>
          <p:nvPr/>
        </p:nvSpPr>
        <p:spPr>
          <a:xfrm>
            <a:off x="914399" y="1178490"/>
            <a:ext cx="74066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52A36"/>
                </a:solidFill>
                <a:latin typeface="+mj-lt"/>
                <a:ea typeface="+mj-ea"/>
                <a:cs typeface="+mj-cs"/>
                <a:sym typeface="Calibri"/>
              </a:defRPr>
            </a:lvl1pPr>
          </a:lstStyle>
          <a:p>
            <a:pPr/>
            <a:r>
              <a:t>Transfer learning outperforms custom architectures</a:t>
            </a:r>
          </a:p>
        </p:txBody>
      </p:sp>
      <p:sp>
        <p:nvSpPr>
          <p:cNvPr id="178" name="Text 4"/>
          <p:cNvSpPr txBox="1"/>
          <p:nvPr/>
        </p:nvSpPr>
        <p:spPr>
          <a:xfrm>
            <a:off x="914399" y="1551354"/>
            <a:ext cx="74066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5000"/>
              </a:lnSpc>
              <a:defRPr sz="1100">
                <a:solidFill>
                  <a:srgbClr val="3B5A6A"/>
                </a:solidFill>
                <a:latin typeface="+mj-lt"/>
                <a:ea typeface="+mj-ea"/>
                <a:cs typeface="+mj-cs"/>
                <a:sym typeface="Calibri"/>
              </a:defRPr>
            </a:lvl1pPr>
          </a:lstStyle>
          <a:p>
            <a:pPr/>
            <a:r>
              <a:t>Even with frozen weights, pretrained models match or exceed a carefully tuned CNN — with far less engineering effort.</a:t>
            </a:r>
          </a:p>
        </p:txBody>
      </p:sp>
      <p:sp>
        <p:nvSpPr>
          <p:cNvPr id="179" name="Text 6"/>
          <p:cNvSpPr txBox="1"/>
          <p:nvPr/>
        </p:nvSpPr>
        <p:spPr>
          <a:xfrm>
            <a:off x="914399" y="2138610"/>
            <a:ext cx="74066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52A36"/>
                </a:solidFill>
                <a:latin typeface="+mj-lt"/>
                <a:ea typeface="+mj-ea"/>
                <a:cs typeface="+mj-cs"/>
                <a:sym typeface="Calibri"/>
              </a:defRPr>
            </a:lvl1pPr>
          </a:lstStyle>
          <a:p>
            <a:pPr/>
            <a:r>
              <a:t>MobileNetV2 strikes the best trade-off</a:t>
            </a:r>
          </a:p>
        </p:txBody>
      </p:sp>
      <p:sp>
        <p:nvSpPr>
          <p:cNvPr id="180" name="Text 7"/>
          <p:cNvSpPr txBox="1"/>
          <p:nvPr/>
        </p:nvSpPr>
        <p:spPr>
          <a:xfrm>
            <a:off x="914399" y="2412139"/>
            <a:ext cx="7406641" cy="332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5000"/>
              </a:lnSpc>
              <a:defRPr sz="1100">
                <a:solidFill>
                  <a:srgbClr val="3B5A6A"/>
                </a:solidFill>
                <a:latin typeface="+mj-lt"/>
                <a:ea typeface="+mj-ea"/>
                <a:cs typeface="+mj-cs"/>
                <a:sym typeface="Calibri"/>
              </a:defRPr>
            </a:lvl1pPr>
          </a:lstStyle>
          <a:p>
            <a:pPr/>
            <a:r>
              <a:t>Fewest parameters among all three models, smooth convergence, and strong performance. An excellent default choice for CIFAR-scale tasks.</a:t>
            </a:r>
          </a:p>
        </p:txBody>
      </p:sp>
      <p:sp>
        <p:nvSpPr>
          <p:cNvPr id="181" name="Text 9"/>
          <p:cNvSpPr txBox="1"/>
          <p:nvPr/>
        </p:nvSpPr>
        <p:spPr>
          <a:xfrm>
            <a:off x="914399" y="3098730"/>
            <a:ext cx="74066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52A36"/>
                </a:solidFill>
                <a:latin typeface="+mj-lt"/>
                <a:ea typeface="+mj-ea"/>
                <a:cs typeface="+mj-cs"/>
                <a:sym typeface="Calibri"/>
              </a:defRPr>
            </a:lvl1pPr>
          </a:lstStyle>
          <a:p>
            <a:pPr/>
            <a:r>
              <a:t>Resolution matters for deeper pretrained models</a:t>
            </a:r>
          </a:p>
        </p:txBody>
      </p:sp>
      <p:sp>
        <p:nvSpPr>
          <p:cNvPr id="182" name="Text 10"/>
          <p:cNvSpPr txBox="1"/>
          <p:nvPr/>
        </p:nvSpPr>
        <p:spPr>
          <a:xfrm>
            <a:off x="914399" y="3471593"/>
            <a:ext cx="74066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5000"/>
              </a:lnSpc>
              <a:defRPr sz="1100">
                <a:solidFill>
                  <a:srgbClr val="3B5A6A"/>
                </a:solidFill>
                <a:latin typeface="+mj-lt"/>
                <a:ea typeface="+mj-ea"/>
                <a:cs typeface="+mj-cs"/>
                <a:sym typeface="Calibri"/>
              </a:defRPr>
            </a:lvl1pPr>
          </a:lstStyle>
          <a:p>
            <a:pPr/>
            <a:r>
              <a:t>ResNet50 requires upscaling from 32×32 to 96×96, adding overhead. ImageNet features transfer better at higher resolutions.</a:t>
            </a:r>
          </a:p>
        </p:txBody>
      </p:sp>
      <p:sp>
        <p:nvSpPr>
          <p:cNvPr id="183" name="Text 12"/>
          <p:cNvSpPr txBox="1"/>
          <p:nvPr/>
        </p:nvSpPr>
        <p:spPr>
          <a:xfrm>
            <a:off x="914399" y="4058849"/>
            <a:ext cx="740664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52A36"/>
                </a:solidFill>
                <a:latin typeface="+mj-lt"/>
                <a:ea typeface="+mj-ea"/>
                <a:cs typeface="+mj-cs"/>
                <a:sym typeface="Calibri"/>
              </a:defRPr>
            </a:lvl1pPr>
          </a:lstStyle>
          <a:p>
            <a:pPr/>
            <a:r>
              <a:t>Common failure modes are consistent</a:t>
            </a:r>
          </a:p>
        </p:txBody>
      </p:sp>
      <p:sp>
        <p:nvSpPr>
          <p:cNvPr id="184" name="Text 13"/>
          <p:cNvSpPr txBox="1"/>
          <p:nvPr/>
        </p:nvSpPr>
        <p:spPr>
          <a:xfrm>
            <a:off x="914399" y="4332380"/>
            <a:ext cx="7406641" cy="33293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25000"/>
              </a:lnSpc>
              <a:defRPr sz="1100">
                <a:solidFill>
                  <a:srgbClr val="3B5A6A"/>
                </a:solidFill>
                <a:latin typeface="+mj-lt"/>
                <a:ea typeface="+mj-ea"/>
                <a:cs typeface="+mj-cs"/>
                <a:sym typeface="Calibri"/>
              </a:defRPr>
            </a:lvl1pPr>
          </a:lstStyle>
          <a:p>
            <a:pPr/>
            <a:r>
              <a:t>All models struggle with visually similar classes (cat ↔ dog, automobile ↔ truck), suggesting resolution — not architecture — is the bottleneck.</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Shape 0"/>
          <p:cNvSpPr/>
          <p:nvPr/>
        </p:nvSpPr>
        <p:spPr>
          <a:xfrm>
            <a:off x="0" y="0"/>
            <a:ext cx="9144000"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pic>
        <p:nvPicPr>
          <p:cNvPr id="187" name="Image 0" descr="Image 0"/>
          <p:cNvPicPr>
            <a:picLocks noChangeAspect="1"/>
          </p:cNvPicPr>
          <p:nvPr/>
        </p:nvPicPr>
        <p:blipFill>
          <a:blip r:embed="rId2">
            <a:extLst/>
          </a:blip>
          <a:stretch>
            <a:fillRect/>
          </a:stretch>
        </p:blipFill>
        <p:spPr>
          <a:xfrm>
            <a:off x="640080" y="301752"/>
            <a:ext cx="384050" cy="384048"/>
          </a:xfrm>
          <a:prstGeom prst="rect">
            <a:avLst/>
          </a:prstGeom>
          <a:ln w="12700">
            <a:miter lim="400000"/>
          </a:ln>
        </p:spPr>
      </p:pic>
      <p:sp>
        <p:nvSpPr>
          <p:cNvPr id="188" name="Text 1"/>
          <p:cNvSpPr txBox="1"/>
          <p:nvPr/>
        </p:nvSpPr>
        <p:spPr>
          <a:xfrm>
            <a:off x="1143000" y="349249"/>
            <a:ext cx="5486400"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52A36"/>
                </a:solidFill>
                <a:latin typeface="Georgia"/>
                <a:ea typeface="Georgia"/>
                <a:cs typeface="Georgia"/>
                <a:sym typeface="Georgia"/>
              </a:defRPr>
            </a:lvl1pPr>
          </a:lstStyle>
          <a:p>
            <a:pPr/>
            <a:r>
              <a:t>Future Work</a:t>
            </a:r>
          </a:p>
        </p:txBody>
      </p:sp>
      <p:sp>
        <p:nvSpPr>
          <p:cNvPr id="189" name="Shape 3"/>
          <p:cNvSpPr/>
          <p:nvPr/>
        </p:nvSpPr>
        <p:spPr>
          <a:xfrm>
            <a:off x="640079" y="1143000"/>
            <a:ext cx="3931923" cy="54864"/>
          </a:xfrm>
          <a:prstGeom prst="rect">
            <a:avLst/>
          </a:prstGeom>
          <a:solidFill>
            <a:srgbClr val="2CA6B5"/>
          </a:solidFill>
          <a:ln w="12700">
            <a:miter lim="400000"/>
          </a:ln>
        </p:spPr>
        <p:txBody>
          <a:bodyPr lIns="45718" tIns="45718" rIns="45718" bIns="45718"/>
          <a:lstStyle/>
          <a:p>
            <a:pPr>
              <a:defRPr>
                <a:latin typeface="+mj-lt"/>
                <a:ea typeface="+mj-ea"/>
                <a:cs typeface="+mj-cs"/>
                <a:sym typeface="Calibri"/>
              </a:defRPr>
            </a:pPr>
          </a:p>
        </p:txBody>
      </p:sp>
      <p:sp>
        <p:nvSpPr>
          <p:cNvPr id="190" name="Text 4"/>
          <p:cNvSpPr txBox="1"/>
          <p:nvPr/>
        </p:nvSpPr>
        <p:spPr>
          <a:xfrm>
            <a:off x="868680" y="1433830"/>
            <a:ext cx="347472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52A36"/>
                </a:solidFill>
                <a:latin typeface="Georgia"/>
                <a:ea typeface="Georgia"/>
                <a:cs typeface="Georgia"/>
                <a:sym typeface="Georgia"/>
              </a:defRPr>
            </a:lvl1pPr>
          </a:lstStyle>
          <a:p>
            <a:pPr/>
            <a:r>
              <a:t>Fine-tune pretrained layers</a:t>
            </a:r>
          </a:p>
        </p:txBody>
      </p:sp>
      <p:sp>
        <p:nvSpPr>
          <p:cNvPr id="191" name="Text 5"/>
          <p:cNvSpPr txBox="1"/>
          <p:nvPr/>
        </p:nvSpPr>
        <p:spPr>
          <a:xfrm>
            <a:off x="868680" y="2194772"/>
            <a:ext cx="3474721" cy="127973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5000"/>
              </a:lnSpc>
              <a:defRPr sz="1300">
                <a:solidFill>
                  <a:srgbClr val="3B5A6A"/>
                </a:solidFill>
                <a:latin typeface="+mj-lt"/>
                <a:ea typeface="+mj-ea"/>
                <a:cs typeface="+mj-cs"/>
                <a:sym typeface="Calibri"/>
              </a:defRPr>
            </a:lvl1pPr>
          </a:lstStyle>
          <a:p>
            <a:pPr/>
            <a:r>
              <a:t>Unfreeze the top layers of MobileNetV2 and ResNet50 and retrain with a low learning rate. This allows the pretrained features to adapt to CIFAR-10's characteristics and could push ResNet50 past the 90% test accuracy threshold.</a:t>
            </a:r>
          </a:p>
        </p:txBody>
      </p:sp>
      <p:sp>
        <p:nvSpPr>
          <p:cNvPr id="192" name="Shape 7"/>
          <p:cNvSpPr/>
          <p:nvPr/>
        </p:nvSpPr>
        <p:spPr>
          <a:xfrm>
            <a:off x="4846320" y="1143000"/>
            <a:ext cx="3931921" cy="54864"/>
          </a:xfrm>
          <a:prstGeom prst="rect">
            <a:avLst/>
          </a:prstGeom>
          <a:solidFill>
            <a:srgbClr val="E0885E"/>
          </a:solidFill>
          <a:ln w="12700">
            <a:miter lim="400000"/>
          </a:ln>
        </p:spPr>
        <p:txBody>
          <a:bodyPr lIns="45718" tIns="45718" rIns="45718" bIns="45718"/>
          <a:lstStyle/>
          <a:p>
            <a:pPr>
              <a:defRPr>
                <a:latin typeface="+mj-lt"/>
                <a:ea typeface="+mj-ea"/>
                <a:cs typeface="+mj-cs"/>
                <a:sym typeface="Calibri"/>
              </a:defRPr>
            </a:pPr>
          </a:p>
        </p:txBody>
      </p:sp>
      <p:sp>
        <p:nvSpPr>
          <p:cNvPr id="193" name="Text 8"/>
          <p:cNvSpPr txBox="1"/>
          <p:nvPr/>
        </p:nvSpPr>
        <p:spPr>
          <a:xfrm>
            <a:off x="5074920" y="1433830"/>
            <a:ext cx="347472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52A36"/>
                </a:solidFill>
                <a:latin typeface="Georgia"/>
                <a:ea typeface="Georgia"/>
                <a:cs typeface="Georgia"/>
                <a:sym typeface="Georgia"/>
              </a:defRPr>
            </a:lvl1pPr>
          </a:lstStyle>
          <a:p>
            <a:pPr/>
            <a:r>
              <a:t>Higher-resolution datasets</a:t>
            </a:r>
          </a:p>
        </p:txBody>
      </p:sp>
      <p:sp>
        <p:nvSpPr>
          <p:cNvPr id="194" name="Text 9"/>
          <p:cNvSpPr txBox="1"/>
          <p:nvPr/>
        </p:nvSpPr>
        <p:spPr>
          <a:xfrm>
            <a:off x="5074920" y="2194193"/>
            <a:ext cx="3474721" cy="10014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5000"/>
              </a:lnSpc>
              <a:defRPr sz="1300">
                <a:solidFill>
                  <a:srgbClr val="3B5A6A"/>
                </a:solidFill>
                <a:latin typeface="+mj-lt"/>
                <a:ea typeface="+mj-ea"/>
                <a:cs typeface="+mj-cs"/>
                <a:sym typeface="Calibri"/>
              </a:defRPr>
            </a:lvl1pPr>
          </a:lstStyle>
          <a:p>
            <a:pPr/>
            <a:r>
              <a:t>Evaluate how these architectures perform on larger images (e.g., CIFAR-100, ImageNet subset) where pretrained features transfer more naturally without the need for upscaling from 32×32.</a:t>
            </a:r>
          </a:p>
        </p:txBody>
      </p:sp>
      <p:sp>
        <p:nvSpPr>
          <p:cNvPr id="195" name="Shape 11"/>
          <p:cNvSpPr/>
          <p:nvPr/>
        </p:nvSpPr>
        <p:spPr>
          <a:xfrm>
            <a:off x="-1828800" y="4663440"/>
            <a:ext cx="12801600" cy="2011683"/>
          </a:xfrm>
          <a:prstGeom prst="ellipse">
            <a:avLst/>
          </a:prstGeom>
          <a:solidFill>
            <a:srgbClr val="A8E4E0">
              <a:alpha val="92000"/>
            </a:srgbClr>
          </a:solidFill>
          <a:ln w="12700">
            <a:miter lim="400000"/>
          </a:ln>
        </p:spPr>
        <p:txBody>
          <a:bodyPr lIns="45718" tIns="45718" rIns="45718" bIns="45718"/>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2B3C"/>
        </a:solidFill>
      </p:bgPr>
    </p:bg>
    <p:spTree>
      <p:nvGrpSpPr>
        <p:cNvPr id="1" name=""/>
        <p:cNvGrpSpPr/>
        <p:nvPr/>
      </p:nvGrpSpPr>
      <p:grpSpPr>
        <a:xfrm>
          <a:off x="0" y="0"/>
          <a:ext cx="0" cy="0"/>
          <a:chOff x="0" y="0"/>
          <a:chExt cx="0" cy="0"/>
        </a:xfrm>
      </p:grpSpPr>
      <p:sp>
        <p:nvSpPr>
          <p:cNvPr id="197" name="Shape 0"/>
          <p:cNvSpPr/>
          <p:nvPr/>
        </p:nvSpPr>
        <p:spPr>
          <a:xfrm>
            <a:off x="-2743200" y="2286000"/>
            <a:ext cx="14630400" cy="4572000"/>
          </a:xfrm>
          <a:prstGeom prst="ellipse">
            <a:avLst/>
          </a:prstGeom>
          <a:solidFill>
            <a:srgbClr val="1A6373">
              <a:alpha val="55000"/>
            </a:srgbClr>
          </a:solidFill>
          <a:ln w="12700">
            <a:miter lim="400000"/>
          </a:ln>
        </p:spPr>
        <p:txBody>
          <a:bodyPr lIns="45718" tIns="45718" rIns="45718" bIns="45718"/>
          <a:lstStyle/>
          <a:p>
            <a:pPr>
              <a:defRPr>
                <a:latin typeface="+mj-lt"/>
                <a:ea typeface="+mj-ea"/>
                <a:cs typeface="+mj-cs"/>
                <a:sym typeface="Calibri"/>
              </a:defRPr>
            </a:pPr>
          </a:p>
        </p:txBody>
      </p:sp>
      <p:sp>
        <p:nvSpPr>
          <p:cNvPr id="198" name="Shape 1"/>
          <p:cNvSpPr/>
          <p:nvPr/>
        </p:nvSpPr>
        <p:spPr>
          <a:xfrm>
            <a:off x="-2286000" y="2743200"/>
            <a:ext cx="13716000" cy="4114800"/>
          </a:xfrm>
          <a:prstGeom prst="ellipse">
            <a:avLst/>
          </a:prstGeom>
          <a:solidFill>
            <a:srgbClr val="2CA6B5">
              <a:alpha val="45000"/>
            </a:srgbClr>
          </a:solidFill>
          <a:ln w="12700">
            <a:miter lim="400000"/>
          </a:ln>
        </p:spPr>
        <p:txBody>
          <a:bodyPr lIns="45718" tIns="45718" rIns="45718" bIns="45718"/>
          <a:lstStyle/>
          <a:p>
            <a:pPr>
              <a:defRPr>
                <a:latin typeface="+mj-lt"/>
                <a:ea typeface="+mj-ea"/>
                <a:cs typeface="+mj-cs"/>
                <a:sym typeface="Calibri"/>
              </a:defRPr>
            </a:pPr>
          </a:p>
        </p:txBody>
      </p:sp>
      <p:sp>
        <p:nvSpPr>
          <p:cNvPr id="199" name="Shape 2"/>
          <p:cNvSpPr/>
          <p:nvPr/>
        </p:nvSpPr>
        <p:spPr>
          <a:xfrm>
            <a:off x="-1828800" y="3291840"/>
            <a:ext cx="12801600" cy="3657603"/>
          </a:xfrm>
          <a:prstGeom prst="ellipse">
            <a:avLst/>
          </a:prstGeom>
          <a:solidFill>
            <a:srgbClr val="5CC8D4">
              <a:alpha val="35000"/>
            </a:srgbClr>
          </a:solidFill>
          <a:ln w="12700">
            <a:miter lim="400000"/>
          </a:ln>
        </p:spPr>
        <p:txBody>
          <a:bodyPr lIns="45718" tIns="45718" rIns="45718" bIns="45718"/>
          <a:lstStyle/>
          <a:p>
            <a:pPr>
              <a:defRPr>
                <a:latin typeface="+mj-lt"/>
                <a:ea typeface="+mj-ea"/>
                <a:cs typeface="+mj-cs"/>
                <a:sym typeface="Calibri"/>
              </a:defRPr>
            </a:pPr>
          </a:p>
        </p:txBody>
      </p:sp>
      <p:sp>
        <p:nvSpPr>
          <p:cNvPr id="200" name="Shape 3"/>
          <p:cNvSpPr/>
          <p:nvPr/>
        </p:nvSpPr>
        <p:spPr>
          <a:xfrm>
            <a:off x="-914400" y="3931920"/>
            <a:ext cx="10972800" cy="2743203"/>
          </a:xfrm>
          <a:prstGeom prst="ellipse">
            <a:avLst/>
          </a:prstGeom>
          <a:solidFill>
            <a:srgbClr val="E8CFA0">
              <a:alpha val="25000"/>
            </a:srgbClr>
          </a:solidFill>
          <a:ln w="12700">
            <a:miter lim="400000"/>
          </a:ln>
        </p:spPr>
        <p:txBody>
          <a:bodyPr lIns="45718" tIns="45718" rIns="45718" bIns="45718"/>
          <a:lstStyle/>
          <a:p>
            <a:pPr>
              <a:defRPr>
                <a:latin typeface="+mj-lt"/>
                <a:ea typeface="+mj-ea"/>
                <a:cs typeface="+mj-cs"/>
                <a:sym typeface="Calibri"/>
              </a:defRPr>
            </a:pPr>
          </a:p>
        </p:txBody>
      </p:sp>
      <p:pic>
        <p:nvPicPr>
          <p:cNvPr id="201" name="Image 0" descr="Image 0"/>
          <p:cNvPicPr>
            <a:picLocks noChangeAspect="1"/>
          </p:cNvPicPr>
          <p:nvPr/>
        </p:nvPicPr>
        <p:blipFill>
          <a:blip r:embed="rId2">
            <a:extLst/>
          </a:blip>
          <a:stretch>
            <a:fillRect/>
          </a:stretch>
        </p:blipFill>
        <p:spPr>
          <a:xfrm>
            <a:off x="4160520" y="640080"/>
            <a:ext cx="822962" cy="822962"/>
          </a:xfrm>
          <a:prstGeom prst="rect">
            <a:avLst/>
          </a:prstGeom>
          <a:ln w="12700">
            <a:miter lim="400000"/>
          </a:ln>
        </p:spPr>
      </p:pic>
      <p:sp>
        <p:nvSpPr>
          <p:cNvPr id="202" name="Text 4"/>
          <p:cNvSpPr txBox="1"/>
          <p:nvPr/>
        </p:nvSpPr>
        <p:spPr>
          <a:xfrm>
            <a:off x="914400" y="1650999"/>
            <a:ext cx="7315200" cy="584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000">
                <a:solidFill>
                  <a:srgbClr val="FFFFFF"/>
                </a:solidFill>
                <a:latin typeface="Georgia"/>
                <a:ea typeface="Georgia"/>
                <a:cs typeface="Georgia"/>
                <a:sym typeface="Georgia"/>
              </a:defRPr>
            </a:lvl1pPr>
          </a:lstStyle>
          <a:p>
            <a:pPr/>
            <a:r>
              <a:t>Thank You</a:t>
            </a:r>
          </a:p>
        </p:txBody>
      </p:sp>
      <p:sp>
        <p:nvSpPr>
          <p:cNvPr id="203" name="Text 5"/>
          <p:cNvSpPr txBox="1"/>
          <p:nvPr/>
        </p:nvSpPr>
        <p:spPr>
          <a:xfrm>
            <a:off x="914400" y="2458808"/>
            <a:ext cx="7315200"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00" sz="2000">
                <a:solidFill>
                  <a:srgbClr val="A8E4E0"/>
                </a:solidFill>
                <a:latin typeface="+mj-lt"/>
                <a:ea typeface="+mj-ea"/>
                <a:cs typeface="+mj-cs"/>
                <a:sym typeface="Calibri"/>
              </a:defRPr>
            </a:lvl1pPr>
          </a:lstStyle>
          <a:p>
            <a:pPr/>
            <a:r>
              <a:t>Questions &amp; Discussion</a:t>
            </a:r>
          </a:p>
        </p:txBody>
      </p:sp>
      <p:sp>
        <p:nvSpPr>
          <p:cNvPr id="204" name="Shape 6"/>
          <p:cNvSpPr/>
          <p:nvPr/>
        </p:nvSpPr>
        <p:spPr>
          <a:xfrm>
            <a:off x="3474720" y="3063238"/>
            <a:ext cx="2194562" cy="22862"/>
          </a:xfrm>
          <a:prstGeom prst="rect">
            <a:avLst/>
          </a:prstGeom>
          <a:solidFill>
            <a:srgbClr val="E8CFA0">
              <a:alpha val="60000"/>
            </a:srgbClr>
          </a:solidFill>
          <a:ln w="12700">
            <a:miter lim="400000"/>
          </a:ln>
        </p:spPr>
        <p:txBody>
          <a:bodyPr lIns="45718" tIns="45718" rIns="45718" bIns="45718"/>
          <a:lstStyle/>
          <a:p>
            <a:pPr>
              <a:defRPr>
                <a:latin typeface="+mj-lt"/>
                <a:ea typeface="+mj-ea"/>
                <a:cs typeface="+mj-cs"/>
                <a:sym typeface="Calibri"/>
              </a:defRPr>
            </a:pPr>
          </a:p>
        </p:txBody>
      </p:sp>
      <p:sp>
        <p:nvSpPr>
          <p:cNvPr id="205" name="Text 7"/>
          <p:cNvSpPr txBox="1"/>
          <p:nvPr/>
        </p:nvSpPr>
        <p:spPr>
          <a:xfrm>
            <a:off x="1417319" y="3339006"/>
            <a:ext cx="6309362" cy="2257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i="1" sz="1100">
                <a:solidFill>
                  <a:srgbClr val="F7EDD8"/>
                </a:solidFill>
                <a:latin typeface="+mj-lt"/>
                <a:ea typeface="+mj-ea"/>
                <a:cs typeface="+mj-cs"/>
                <a:sym typeface="Calibri"/>
              </a:defRPr>
            </a:lvl1pPr>
          </a:lstStyle>
          <a:p>
            <a:pPr/>
            <a:r>
              <a:t>CIFAR-10 Image Classification  •  CNN &amp; Transfer Learning</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